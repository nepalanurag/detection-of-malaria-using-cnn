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8"/>
  </p:notesMasterIdLst>
  <p:sldIdLst>
    <p:sldId id="278" r:id="rId2"/>
    <p:sldId id="279" r:id="rId3"/>
    <p:sldId id="295" r:id="rId4"/>
    <p:sldId id="312" r:id="rId5"/>
    <p:sldId id="311" r:id="rId6"/>
    <p:sldId id="291" r:id="rId7"/>
    <p:sldId id="294" r:id="rId8"/>
    <p:sldId id="301" r:id="rId9"/>
    <p:sldId id="309" r:id="rId10"/>
    <p:sldId id="310" r:id="rId11"/>
    <p:sldId id="284" r:id="rId12"/>
    <p:sldId id="306" r:id="rId13"/>
    <p:sldId id="307" r:id="rId14"/>
    <p:sldId id="292" r:id="rId15"/>
    <p:sldId id="313" r:id="rId16"/>
    <p:sldId id="293" r:id="rId1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6"/>
    <a:srgbClr val="202C8F"/>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60"/>
    <p:restoredTop sz="96197" autoAdjust="0"/>
  </p:normalViewPr>
  <p:slideViewPr>
    <p:cSldViewPr snapToGrid="0" snapToObjects="1">
      <p:cViewPr varScale="1">
        <p:scale>
          <a:sx n="108" d="100"/>
          <a:sy n="108" d="100"/>
        </p:scale>
        <p:origin x="728" y="184"/>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ceb.nlm.nih.gov/repositories/malaria-datasets/" TargetMode="Externa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33.png"/><Relationship Id="rId5" Type="http://schemas.microsoft.com/office/2007/relationships/hdphoto" Target="../media/hdphoto2.wdp"/><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a:xfrm>
            <a:off x="2869817" y="2344811"/>
            <a:ext cx="6536942" cy="1732916"/>
          </a:xfrm>
        </p:spPr>
        <p:txBody>
          <a:bodyPr/>
          <a:lstStyle/>
          <a:p>
            <a:r>
              <a:rPr lang="en-US" sz="2130" dirty="0"/>
              <a:t>Detection of malaria</a:t>
            </a:r>
            <a:br>
              <a:rPr lang="en-US" sz="2130" dirty="0"/>
            </a:br>
            <a:r>
              <a:rPr lang="en-US" sz="2130" dirty="0"/>
              <a:t> in blood cells using convolution neural network</a:t>
            </a:r>
            <a:br>
              <a:rPr lang="en-US" sz="2800" dirty="0"/>
            </a:br>
            <a:endParaRPr lang="en-US" sz="2800" dirty="0"/>
          </a:p>
        </p:txBody>
      </p:sp>
      <p:sp>
        <p:nvSpPr>
          <p:cNvPr id="6" name="TextBox 5">
            <a:extLst>
              <a:ext uri="{FF2B5EF4-FFF2-40B4-BE49-F238E27FC236}">
                <a16:creationId xmlns:a16="http://schemas.microsoft.com/office/drawing/2014/main" id="{AFB72113-C844-1228-A194-42D846CC677A}"/>
              </a:ext>
            </a:extLst>
          </p:cNvPr>
          <p:cNvSpPr txBox="1"/>
          <p:nvPr/>
        </p:nvSpPr>
        <p:spPr>
          <a:xfrm>
            <a:off x="4768172" y="4478379"/>
            <a:ext cx="2907245" cy="338554"/>
          </a:xfrm>
          <a:prstGeom prst="rect">
            <a:avLst/>
          </a:prstGeom>
          <a:noFill/>
        </p:spPr>
        <p:txBody>
          <a:bodyPr wrap="square">
            <a:spAutoFit/>
          </a:bodyPr>
          <a:lstStyle/>
          <a:p>
            <a:r>
              <a:rPr lang="en-US" sz="1600" b="1" dirty="0">
                <a:solidFill>
                  <a:schemeClr val="accent6"/>
                </a:solidFill>
                <a:effectLst/>
                <a:latin typeface="+mj-lt"/>
              </a:rPr>
              <a:t>Project </a:t>
            </a:r>
            <a:r>
              <a:rPr lang="en-US" sz="1600" b="1" dirty="0">
                <a:solidFill>
                  <a:schemeClr val="accent6"/>
                </a:solidFill>
                <a:effectLst/>
                <a:latin typeface="+mj-lt"/>
                <a:cs typeface="Arial" panose="020B0604020202020204" pitchFamily="34" charset="0"/>
              </a:rPr>
              <a:t>Group</a:t>
            </a:r>
            <a:r>
              <a:rPr lang="en-US" sz="1600" b="1" dirty="0">
                <a:solidFill>
                  <a:schemeClr val="accent6"/>
                </a:solidFill>
                <a:effectLst/>
                <a:latin typeface="+mj-lt"/>
              </a:rPr>
              <a:t> 21-CSP20</a:t>
            </a:r>
            <a:endParaRPr lang="en-US" sz="1600" b="1" dirty="0">
              <a:solidFill>
                <a:schemeClr val="accent6"/>
              </a:solidFill>
              <a:latin typeface="+mj-lt"/>
            </a:endParaRPr>
          </a:p>
        </p:txBody>
      </p:sp>
      <p:pic>
        <p:nvPicPr>
          <p:cNvPr id="1028" name="Picture 4">
            <a:extLst>
              <a:ext uri="{FF2B5EF4-FFF2-40B4-BE49-F238E27FC236}">
                <a16:creationId xmlns:a16="http://schemas.microsoft.com/office/drawing/2014/main" id="{E1ED0E9F-97DE-D6A5-4792-F8CF5CE661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815" y="163087"/>
            <a:ext cx="6639291" cy="7235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803CA9C-6957-65EB-EEAB-001471ACA8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1063" y="738664"/>
            <a:ext cx="1376797" cy="144306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A68F9A6-2A75-EC95-32FC-20AF9519AD3C}"/>
              </a:ext>
            </a:extLst>
          </p:cNvPr>
          <p:cNvSpPr txBox="1"/>
          <p:nvPr/>
        </p:nvSpPr>
        <p:spPr>
          <a:xfrm>
            <a:off x="1720172" y="5380672"/>
            <a:ext cx="6096000" cy="1477328"/>
          </a:xfrm>
          <a:prstGeom prst="rect">
            <a:avLst/>
          </a:prstGeom>
          <a:noFill/>
        </p:spPr>
        <p:txBody>
          <a:bodyPr wrap="square">
            <a:spAutoFit/>
          </a:bodyPr>
          <a:lstStyle/>
          <a:p>
            <a:r>
              <a:rPr lang="en-US" dirty="0">
                <a:solidFill>
                  <a:srgbClr val="FDFBF6"/>
                </a:solidFill>
              </a:rPr>
              <a:t>Presented by:</a:t>
            </a:r>
          </a:p>
          <a:p>
            <a:r>
              <a:rPr lang="en-US" dirty="0">
                <a:solidFill>
                  <a:srgbClr val="FDFBF6"/>
                </a:solidFill>
              </a:rPr>
              <a:t>Anurag Nepal 1NT19CS036 </a:t>
            </a:r>
          </a:p>
          <a:p>
            <a:r>
              <a:rPr lang="en-US" dirty="0">
                <a:solidFill>
                  <a:srgbClr val="FDFBF6"/>
                </a:solidFill>
              </a:rPr>
              <a:t>Avishek Rijal 1NT19CS045</a:t>
            </a:r>
          </a:p>
          <a:p>
            <a:r>
              <a:rPr lang="en-US" dirty="0">
                <a:solidFill>
                  <a:srgbClr val="FDFBF6"/>
                </a:solidFill>
              </a:rPr>
              <a:t>Baibhav Dhakal 1NT19CS048</a:t>
            </a:r>
          </a:p>
          <a:p>
            <a:r>
              <a:rPr lang="en-US" dirty="0">
                <a:solidFill>
                  <a:srgbClr val="FDFBF6"/>
                </a:solidFill>
              </a:rPr>
              <a:t>Sabin Kandel 1NT19CS165</a:t>
            </a:r>
          </a:p>
        </p:txBody>
      </p:sp>
      <p:sp>
        <p:nvSpPr>
          <p:cNvPr id="15" name="TextBox 14">
            <a:extLst>
              <a:ext uri="{FF2B5EF4-FFF2-40B4-BE49-F238E27FC236}">
                <a16:creationId xmlns:a16="http://schemas.microsoft.com/office/drawing/2014/main" id="{243D5F10-D43F-B1FE-0143-248CF2DBFF32}"/>
              </a:ext>
            </a:extLst>
          </p:cNvPr>
          <p:cNvSpPr txBox="1"/>
          <p:nvPr/>
        </p:nvSpPr>
        <p:spPr>
          <a:xfrm>
            <a:off x="6461108" y="5217585"/>
            <a:ext cx="6096000" cy="1477328"/>
          </a:xfrm>
          <a:prstGeom prst="rect">
            <a:avLst/>
          </a:prstGeom>
          <a:noFill/>
        </p:spPr>
        <p:txBody>
          <a:bodyPr wrap="square">
            <a:spAutoFit/>
          </a:bodyPr>
          <a:lstStyle/>
          <a:p>
            <a:pPr>
              <a:lnSpc>
                <a:spcPct val="200000"/>
              </a:lnSpc>
            </a:pPr>
            <a:r>
              <a:rPr lang="en-US" dirty="0">
                <a:solidFill>
                  <a:srgbClr val="FDFBF6"/>
                </a:solidFill>
              </a:rPr>
              <a:t>Guided By:</a:t>
            </a:r>
          </a:p>
          <a:p>
            <a:r>
              <a:rPr lang="en-US" dirty="0">
                <a:solidFill>
                  <a:srgbClr val="FDFBF6"/>
                </a:solidFill>
              </a:rPr>
              <a:t>Dr. NALINI N</a:t>
            </a:r>
          </a:p>
          <a:p>
            <a:r>
              <a:rPr lang="en-US" dirty="0">
                <a:solidFill>
                  <a:srgbClr val="FDFBF6"/>
                </a:solidFill>
              </a:rPr>
              <a:t>Designation: PROFESSOR</a:t>
            </a:r>
          </a:p>
          <a:p>
            <a:r>
              <a:rPr lang="en-US" dirty="0">
                <a:solidFill>
                  <a:srgbClr val="FDFBF6"/>
                </a:solidFill>
              </a:rPr>
              <a:t>DEAN-STUDENTS' WELFARE</a:t>
            </a:r>
          </a:p>
        </p:txBody>
      </p:sp>
    </p:spTree>
    <p:extLst>
      <p:ext uri="{BB962C8B-B14F-4D97-AF65-F5344CB8AC3E}">
        <p14:creationId xmlns:p14="http://schemas.microsoft.com/office/powerpoint/2010/main" val="21315684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a:xfrm>
            <a:off x="805933" y="0"/>
            <a:ext cx="6015281" cy="768096"/>
          </a:xfrm>
        </p:spPr>
        <p:txBody>
          <a:bodyPr/>
          <a:lstStyle/>
          <a:p>
            <a:r>
              <a:rPr lang="en-US" dirty="0">
                <a:latin typeface="Arial Black" panose="020B0604020202020204" pitchFamily="34" charset="0"/>
                <a:ea typeface="Arial Regular" pitchFamily="34" charset="-122"/>
                <a:cs typeface="Arial Black" panose="020B0604020202020204" pitchFamily="34" charset="0"/>
              </a:rPr>
              <a:t>phase overview</a:t>
            </a:r>
            <a:br>
              <a:rPr lang="en-US" dirty="0">
                <a:latin typeface="Arial Black" panose="020B0604020202020204" pitchFamily="34" charset="0"/>
                <a:ea typeface="Arial Regular" pitchFamily="34" charset="-122"/>
                <a:cs typeface="Arial Black" panose="020B0604020202020204" pitchFamily="34" charset="0"/>
              </a:rPr>
            </a:br>
            <a:r>
              <a:rPr lang="en-US" dirty="0">
                <a:latin typeface="Arial Black" panose="020B0604020202020204" pitchFamily="34" charset="0"/>
                <a:ea typeface="Arial Regular" pitchFamily="34" charset="-122"/>
                <a:cs typeface="Arial Black" panose="020B0604020202020204" pitchFamily="34" charset="0"/>
              </a:rPr>
              <a:t>(roadmap)</a:t>
            </a:r>
            <a:br>
              <a:rPr lang="en-US" dirty="0">
                <a:latin typeface="Arial Black" panose="020B0604020202020204" pitchFamily="34" charset="0"/>
                <a:ea typeface="Arial Regular" pitchFamily="34" charset="-122"/>
                <a:cs typeface="Arial Black" panose="020B0604020202020204" pitchFamily="34" charset="0"/>
              </a:rPr>
            </a:br>
            <a:br>
              <a:rPr lang="en-US" dirty="0">
                <a:latin typeface="Arial Black" panose="020B0604020202020204" pitchFamily="34" charset="0"/>
                <a:ea typeface="Arial Regular" pitchFamily="34" charset="-122"/>
                <a:cs typeface="Arial Black" panose="020B0604020202020204" pitchFamily="34" charset="0"/>
              </a:rPr>
            </a:b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890016" y="1751129"/>
            <a:ext cx="6214977" cy="1265340"/>
          </a:xfrm>
        </p:spPr>
        <p:txBody>
          <a:bodyPr/>
          <a:lstStyle/>
          <a:p>
            <a:r>
              <a:rPr lang="en-US" b="1" dirty="0"/>
              <a:t>Phase 0</a:t>
            </a:r>
            <a:r>
              <a:rPr lang="en-US" dirty="0"/>
              <a:t>: Dataset collection</a:t>
            </a:r>
          </a:p>
          <a:p>
            <a:endParaRPr lang="en-US" dirty="0"/>
          </a:p>
          <a:p>
            <a:r>
              <a:rPr lang="en-US" b="1" dirty="0"/>
              <a:t>Phase 1</a:t>
            </a:r>
            <a:r>
              <a:rPr lang="en-US" dirty="0"/>
              <a:t>: Model Building and Training</a:t>
            </a:r>
          </a:p>
          <a:p>
            <a:endParaRPr lang="en-US" dirty="0"/>
          </a:p>
          <a:p>
            <a:r>
              <a:rPr lang="en-US" b="1" dirty="0"/>
              <a:t>Phase 2</a:t>
            </a:r>
            <a:r>
              <a:rPr lang="en-US" dirty="0"/>
              <a:t>: Implementation of Webapp and Mobile app to detect malaria in real time</a:t>
            </a:r>
          </a:p>
          <a:p>
            <a:endParaRPr lang="en-US" dirty="0"/>
          </a:p>
          <a:p>
            <a:r>
              <a:rPr lang="en-US" b="1" dirty="0"/>
              <a:t>Phase 3</a:t>
            </a:r>
            <a:r>
              <a:rPr lang="en-US" dirty="0"/>
              <a:t>: Final Integration &amp; Module Testing</a:t>
            </a:r>
          </a:p>
        </p:txBody>
      </p:sp>
    </p:spTree>
    <p:extLst>
      <p:ext uri="{BB962C8B-B14F-4D97-AF65-F5344CB8AC3E}">
        <p14:creationId xmlns:p14="http://schemas.microsoft.com/office/powerpoint/2010/main" val="38555318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3786824" y="1048519"/>
            <a:ext cx="7754112" cy="768096"/>
          </a:xfrm>
        </p:spPr>
        <p:txBody>
          <a:bodyPr/>
          <a:lstStyle/>
          <a:p>
            <a:pPr algn="ctr"/>
            <a:r>
              <a:rPr lang="en-US" sz="3300" dirty="0"/>
              <a:t>Dataset</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478292" y="2056363"/>
            <a:ext cx="8713708" cy="2002006"/>
          </a:xfrm>
        </p:spPr>
        <p:txBody>
          <a:bodyPr/>
          <a:lstStyle/>
          <a:p>
            <a:r>
              <a:rPr lang="en-US" dirty="0"/>
              <a:t>Dataset taken from : Official National Institute of Health (NIH) </a:t>
            </a:r>
            <a:r>
              <a:rPr lang="en-US" dirty="0">
                <a:hlinkClick r:id="rId2"/>
              </a:rPr>
              <a:t>website</a:t>
            </a:r>
            <a:endParaRPr lang="en-US" dirty="0"/>
          </a:p>
          <a:p>
            <a:r>
              <a:rPr lang="en-US" dirty="0"/>
              <a:t>The Dataset contains two folders:</a:t>
            </a:r>
          </a:p>
          <a:p>
            <a:pPr marL="285750" indent="-285750">
              <a:buFont typeface="Arial" panose="020B0604020202020204" pitchFamily="34" charset="0"/>
              <a:buChar char="•"/>
            </a:pPr>
            <a:r>
              <a:rPr lang="en-US" dirty="0"/>
              <a:t>Infected</a:t>
            </a:r>
          </a:p>
          <a:p>
            <a:pPr marL="285750" indent="-285750">
              <a:buFont typeface="Arial" panose="020B0604020202020204" pitchFamily="34" charset="0"/>
              <a:buChar char="•"/>
            </a:pPr>
            <a:r>
              <a:rPr lang="en-US" dirty="0"/>
              <a:t>Uninfected</a:t>
            </a:r>
          </a:p>
          <a:p>
            <a:r>
              <a:rPr lang="en-US" dirty="0"/>
              <a:t>    And there are 27,558 images of blood smears with 50-50 distribution between infected and uninfected.</a:t>
            </a:r>
          </a:p>
          <a:p>
            <a:r>
              <a:rPr lang="en-US" dirty="0"/>
              <a:t>Additionally, we incorporated another dataset from the same source to include thick and thin smear blood cells to enhance our model and to detect real life cases more efficiently.</a:t>
            </a:r>
          </a:p>
          <a:p>
            <a:endParaRPr lang="en-US" dirty="0"/>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a:xfrm>
            <a:off x="3394841" y="457200"/>
            <a:ext cx="8713708" cy="274320"/>
          </a:xfrm>
        </p:spPr>
        <p:txBody>
          <a:bodyPr/>
          <a:lstStyle/>
          <a:p>
            <a:r>
              <a:rPr lang="en-US" dirty="0"/>
              <a:t>Detection of Malaria in Blood Cell Using Convolution Neural Network</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a:t>
            </a:fld>
            <a:endParaRPr lang="en-US" dirty="0"/>
          </a:p>
        </p:txBody>
      </p:sp>
      <p:pic>
        <p:nvPicPr>
          <p:cNvPr id="7" name="Picture 6">
            <a:extLst>
              <a:ext uri="{FF2B5EF4-FFF2-40B4-BE49-F238E27FC236}">
                <a16:creationId xmlns:a16="http://schemas.microsoft.com/office/drawing/2014/main" id="{256DF3E4-1CCD-4AAB-A956-97E4CFEEB7DB}"/>
              </a:ext>
            </a:extLst>
          </p:cNvPr>
          <p:cNvPicPr>
            <a:picLocks noChangeAspect="1"/>
          </p:cNvPicPr>
          <p:nvPr/>
        </p:nvPicPr>
        <p:blipFill rotWithShape="1">
          <a:blip r:embed="rId3"/>
          <a:srcRect l="6106" t="4013" r="70989" b="55558"/>
          <a:stretch/>
        </p:blipFill>
        <p:spPr>
          <a:xfrm>
            <a:off x="3755180" y="4512933"/>
            <a:ext cx="1303283" cy="1366345"/>
          </a:xfrm>
          <a:prstGeom prst="rect">
            <a:avLst/>
          </a:prstGeom>
        </p:spPr>
      </p:pic>
      <p:pic>
        <p:nvPicPr>
          <p:cNvPr id="8" name="Picture 7">
            <a:extLst>
              <a:ext uri="{FF2B5EF4-FFF2-40B4-BE49-F238E27FC236}">
                <a16:creationId xmlns:a16="http://schemas.microsoft.com/office/drawing/2014/main" id="{803D11F8-1D5A-1147-E355-BE64A7A5EE1B}"/>
              </a:ext>
            </a:extLst>
          </p:cNvPr>
          <p:cNvPicPr>
            <a:picLocks noChangeAspect="1"/>
          </p:cNvPicPr>
          <p:nvPr/>
        </p:nvPicPr>
        <p:blipFill rotWithShape="1">
          <a:blip r:embed="rId4"/>
          <a:srcRect l="4755" t="3672" r="70678" b="55953"/>
          <a:stretch/>
        </p:blipFill>
        <p:spPr>
          <a:xfrm>
            <a:off x="5925568" y="4512933"/>
            <a:ext cx="1397875" cy="1366345"/>
          </a:xfrm>
          <a:prstGeom prst="rect">
            <a:avLst/>
          </a:prstGeom>
        </p:spPr>
      </p:pic>
      <p:sp>
        <p:nvSpPr>
          <p:cNvPr id="12" name="TextBox 11">
            <a:extLst>
              <a:ext uri="{FF2B5EF4-FFF2-40B4-BE49-F238E27FC236}">
                <a16:creationId xmlns:a16="http://schemas.microsoft.com/office/drawing/2014/main" id="{9F0C8D9E-F2D0-2329-1C18-D3F95A3FFDCA}"/>
              </a:ext>
            </a:extLst>
          </p:cNvPr>
          <p:cNvSpPr txBox="1"/>
          <p:nvPr/>
        </p:nvSpPr>
        <p:spPr>
          <a:xfrm>
            <a:off x="3755180" y="6057923"/>
            <a:ext cx="1573711" cy="646331"/>
          </a:xfrm>
          <a:prstGeom prst="rect">
            <a:avLst/>
          </a:prstGeom>
          <a:noFill/>
        </p:spPr>
        <p:txBody>
          <a:bodyPr wrap="square">
            <a:spAutoFit/>
          </a:bodyPr>
          <a:lstStyle/>
          <a:p>
            <a:r>
              <a:rPr lang="en-US" dirty="0"/>
              <a:t>Uninfected Blood Sample </a:t>
            </a:r>
          </a:p>
        </p:txBody>
      </p:sp>
      <p:sp>
        <p:nvSpPr>
          <p:cNvPr id="16" name="TextBox 15">
            <a:extLst>
              <a:ext uri="{FF2B5EF4-FFF2-40B4-BE49-F238E27FC236}">
                <a16:creationId xmlns:a16="http://schemas.microsoft.com/office/drawing/2014/main" id="{432099BB-DDF6-3D69-744F-BE22097EF6A7}"/>
              </a:ext>
            </a:extLst>
          </p:cNvPr>
          <p:cNvSpPr txBox="1"/>
          <p:nvPr/>
        </p:nvSpPr>
        <p:spPr>
          <a:xfrm>
            <a:off x="5810587" y="6057922"/>
            <a:ext cx="1573711" cy="646331"/>
          </a:xfrm>
          <a:prstGeom prst="rect">
            <a:avLst/>
          </a:prstGeom>
          <a:noFill/>
        </p:spPr>
        <p:txBody>
          <a:bodyPr wrap="square">
            <a:spAutoFit/>
          </a:bodyPr>
          <a:lstStyle/>
          <a:p>
            <a:r>
              <a:rPr lang="en-US" dirty="0"/>
              <a:t>Infected Blood Sample </a:t>
            </a:r>
          </a:p>
        </p:txBody>
      </p:sp>
      <p:pic>
        <p:nvPicPr>
          <p:cNvPr id="17" name="Picture 16">
            <a:extLst>
              <a:ext uri="{FF2B5EF4-FFF2-40B4-BE49-F238E27FC236}">
                <a16:creationId xmlns:a16="http://schemas.microsoft.com/office/drawing/2014/main" id="{901D744E-3A2E-3578-C76C-6EC87F0D41BD}"/>
              </a:ext>
            </a:extLst>
          </p:cNvPr>
          <p:cNvPicPr>
            <a:picLocks noChangeAspect="1"/>
          </p:cNvPicPr>
          <p:nvPr/>
        </p:nvPicPr>
        <p:blipFill rotWithShape="1">
          <a:blip r:embed="rId5"/>
          <a:srcRect l="6065" r="15302" b="5346"/>
          <a:stretch/>
        </p:blipFill>
        <p:spPr>
          <a:xfrm>
            <a:off x="8236740" y="4512932"/>
            <a:ext cx="1397875" cy="1360885"/>
          </a:xfrm>
          <a:prstGeom prst="rect">
            <a:avLst/>
          </a:prstGeom>
        </p:spPr>
      </p:pic>
      <p:sp>
        <p:nvSpPr>
          <p:cNvPr id="18" name="TextBox 17">
            <a:extLst>
              <a:ext uri="{FF2B5EF4-FFF2-40B4-BE49-F238E27FC236}">
                <a16:creationId xmlns:a16="http://schemas.microsoft.com/office/drawing/2014/main" id="{E8CE3888-AE29-0503-7E93-5ACFEABEF2E0}"/>
              </a:ext>
            </a:extLst>
          </p:cNvPr>
          <p:cNvSpPr txBox="1"/>
          <p:nvPr/>
        </p:nvSpPr>
        <p:spPr>
          <a:xfrm>
            <a:off x="8121759" y="5934670"/>
            <a:ext cx="1573711" cy="923330"/>
          </a:xfrm>
          <a:prstGeom prst="rect">
            <a:avLst/>
          </a:prstGeom>
          <a:noFill/>
        </p:spPr>
        <p:txBody>
          <a:bodyPr wrap="square">
            <a:spAutoFit/>
          </a:bodyPr>
          <a:lstStyle/>
          <a:p>
            <a:r>
              <a:rPr lang="en-US" dirty="0"/>
              <a:t>Infected Thick Smear Blood Sample </a:t>
            </a:r>
          </a:p>
        </p:txBody>
      </p:sp>
      <p:pic>
        <p:nvPicPr>
          <p:cNvPr id="19" name="Picture 18">
            <a:extLst>
              <a:ext uri="{FF2B5EF4-FFF2-40B4-BE49-F238E27FC236}">
                <a16:creationId xmlns:a16="http://schemas.microsoft.com/office/drawing/2014/main" id="{A9E38927-344C-B250-1BB2-92107599D5C2}"/>
              </a:ext>
            </a:extLst>
          </p:cNvPr>
          <p:cNvPicPr>
            <a:picLocks noChangeAspect="1"/>
          </p:cNvPicPr>
          <p:nvPr/>
        </p:nvPicPr>
        <p:blipFill rotWithShape="1">
          <a:blip r:embed="rId6"/>
          <a:srcRect r="6767"/>
          <a:stretch/>
        </p:blipFill>
        <p:spPr>
          <a:xfrm>
            <a:off x="10421471" y="4510203"/>
            <a:ext cx="1303283" cy="1366345"/>
          </a:xfrm>
          <a:prstGeom prst="rect">
            <a:avLst/>
          </a:prstGeom>
        </p:spPr>
      </p:pic>
      <p:sp>
        <p:nvSpPr>
          <p:cNvPr id="20" name="TextBox 19">
            <a:extLst>
              <a:ext uri="{FF2B5EF4-FFF2-40B4-BE49-F238E27FC236}">
                <a16:creationId xmlns:a16="http://schemas.microsoft.com/office/drawing/2014/main" id="{975422D3-FC80-BE5E-ED1D-7423D622ED4A}"/>
              </a:ext>
            </a:extLst>
          </p:cNvPr>
          <p:cNvSpPr txBox="1"/>
          <p:nvPr/>
        </p:nvSpPr>
        <p:spPr>
          <a:xfrm>
            <a:off x="10297296" y="5919422"/>
            <a:ext cx="1573711" cy="923330"/>
          </a:xfrm>
          <a:prstGeom prst="rect">
            <a:avLst/>
          </a:prstGeom>
          <a:noFill/>
        </p:spPr>
        <p:txBody>
          <a:bodyPr wrap="square">
            <a:spAutoFit/>
          </a:bodyPr>
          <a:lstStyle/>
          <a:p>
            <a:r>
              <a:rPr lang="en-US" dirty="0"/>
              <a:t>Uninfected Thick Smear Blood Sample </a:t>
            </a:r>
          </a:p>
        </p:txBody>
      </p:sp>
    </p:spTree>
    <p:extLst>
      <p:ext uri="{BB962C8B-B14F-4D97-AF65-F5344CB8AC3E}">
        <p14:creationId xmlns:p14="http://schemas.microsoft.com/office/powerpoint/2010/main" val="40008130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BCF6519-9BCF-24C7-537E-05E835F7E760}"/>
              </a:ext>
            </a:extLst>
          </p:cNvPr>
          <p:cNvSpPr>
            <a:spLocks noGrp="1"/>
          </p:cNvSpPr>
          <p:nvPr>
            <p:ph type="ftr" sz="quarter" idx="11"/>
          </p:nvPr>
        </p:nvSpPr>
        <p:spPr>
          <a:xfrm>
            <a:off x="546570" y="457200"/>
            <a:ext cx="4822405" cy="274320"/>
          </a:xfrm>
        </p:spPr>
        <p:txBody>
          <a:bodyPr anchor="ctr">
            <a:noAutofit/>
          </a:bodyPr>
          <a:lstStyle/>
          <a:p>
            <a:r>
              <a:rPr lang="en-US" dirty="0"/>
              <a:t>Detection of Malaria in Blood Cell Using Convolution Neural Network</a:t>
            </a:r>
          </a:p>
        </p:txBody>
      </p:sp>
      <p:sp>
        <p:nvSpPr>
          <p:cNvPr id="5" name="Slide Number Placeholder 4">
            <a:extLst>
              <a:ext uri="{FF2B5EF4-FFF2-40B4-BE49-F238E27FC236}">
                <a16:creationId xmlns:a16="http://schemas.microsoft.com/office/drawing/2014/main" id="{FA1E0C19-D350-D4B9-25F9-F83FE1A4A396}"/>
              </a:ext>
            </a:extLst>
          </p:cNvPr>
          <p:cNvSpPr>
            <a:spLocks noGrp="1"/>
          </p:cNvSpPr>
          <p:nvPr>
            <p:ph type="sldNum" sz="quarter" idx="12"/>
          </p:nvPr>
        </p:nvSpPr>
        <p:spPr>
          <a:xfrm>
            <a:off x="10945368" y="457200"/>
            <a:ext cx="987552" cy="274320"/>
          </a:xfrm>
        </p:spPr>
        <p:txBody>
          <a:bodyPr anchor="ctr">
            <a:normAutofit/>
          </a:bodyPr>
          <a:lstStyle/>
          <a:p>
            <a:pPr>
              <a:spcAft>
                <a:spcPts val="600"/>
              </a:spcAft>
            </a:pPr>
            <a:fld id="{48F63A3B-78C7-47BE-AE5E-E10140E04643}" type="slidenum">
              <a:rPr lang="en-US" smtClean="0"/>
              <a:pPr>
                <a:spcAft>
                  <a:spcPts val="600"/>
                </a:spcAft>
              </a:pPr>
              <a:t>4</a:t>
            </a:fld>
            <a:endParaRPr lang="en-US"/>
          </a:p>
        </p:txBody>
      </p:sp>
      <p:pic>
        <p:nvPicPr>
          <p:cNvPr id="2050" name="Picture 2" descr="Diagnostics | Free Full-Text | Analyzing Malaria Disease Using Effective  Deep Learning Approach">
            <a:extLst>
              <a:ext uri="{FF2B5EF4-FFF2-40B4-BE49-F238E27FC236}">
                <a16:creationId xmlns:a16="http://schemas.microsoft.com/office/drawing/2014/main" id="{EAA1D3E0-1222-B192-53A2-7985A9E4B7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570" y="2370552"/>
            <a:ext cx="11098859" cy="4283466"/>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18AFC8F6-1333-A57F-8BAB-8075027BBFA4}"/>
              </a:ext>
            </a:extLst>
          </p:cNvPr>
          <p:cNvSpPr txBox="1">
            <a:spLocks/>
          </p:cNvSpPr>
          <p:nvPr/>
        </p:nvSpPr>
        <p:spPr>
          <a:xfrm>
            <a:off x="1697419" y="1166988"/>
            <a:ext cx="8797159" cy="768096"/>
          </a:xfrm>
          <a:prstGeom prst="rect">
            <a:avLst/>
          </a:prstGeom>
        </p:spPr>
        <p:txBody>
          <a:bodyPr/>
          <a:lst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a:lstStyle>
          <a:p>
            <a:r>
              <a:rPr lang="en-US" sz="2700" dirty="0"/>
              <a:t>CNN Architecture</a:t>
            </a:r>
          </a:p>
        </p:txBody>
      </p:sp>
    </p:spTree>
    <p:extLst>
      <p:ext uri="{BB962C8B-B14F-4D97-AF65-F5344CB8AC3E}">
        <p14:creationId xmlns:p14="http://schemas.microsoft.com/office/powerpoint/2010/main" val="27527542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3394840" y="121383"/>
            <a:ext cx="8797159" cy="768096"/>
          </a:xfrm>
        </p:spPr>
        <p:txBody>
          <a:bodyPr/>
          <a:lstStyle/>
          <a:p>
            <a:pPr algn="ctr"/>
            <a:r>
              <a:rPr lang="en-US" sz="2700" dirty="0"/>
              <a:t>ABOUT CNN</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613619" y="761864"/>
            <a:ext cx="8319300" cy="5959679"/>
          </a:xfrm>
        </p:spPr>
        <p:txBody>
          <a:bodyPr/>
          <a:lstStyle/>
          <a:p>
            <a:pPr marL="285750" indent="-285750">
              <a:buFont typeface="Arial" panose="020B0604020202020204" pitchFamily="34" charset="0"/>
              <a:buChar char="•"/>
            </a:pPr>
            <a:r>
              <a:rPr lang="en-US" sz="1600" dirty="0"/>
              <a:t>CNN stands for Convolutional Neural Network, which is a type of deep learning algorithm primarily used for image recognition, object detection, and classification tasks.</a:t>
            </a:r>
          </a:p>
          <a:p>
            <a:pPr marL="285750" indent="-285750">
              <a:buFont typeface="Arial" panose="020B0604020202020204" pitchFamily="34" charset="0"/>
              <a:buChar char="•"/>
            </a:pPr>
            <a:r>
              <a:rPr lang="en-US" sz="1600" dirty="0"/>
              <a:t>The key building blocks of a CNN include input layer, convolutional layers, pooling layers, and fully connected layers. </a:t>
            </a:r>
          </a:p>
          <a:p>
            <a:pPr marL="285750" indent="-285750">
              <a:buFont typeface="Arial" panose="020B0604020202020204" pitchFamily="34" charset="0"/>
              <a:buChar char="•"/>
            </a:pPr>
            <a:endParaRPr lang="en-US" sz="1600" dirty="0"/>
          </a:p>
          <a:p>
            <a:pPr marL="1028700" lvl="1" indent="-342900">
              <a:buFont typeface="+mj-lt"/>
              <a:buAutoNum type="arabicPeriod"/>
            </a:pPr>
            <a:r>
              <a:rPr lang="en-US" sz="1600" dirty="0"/>
              <a:t>Input Layer: The input layer receives the raw input data, such as an image, and prepares it for further processing. In image-based tasks, this layer will typically be a set of 2D pixels arranged in a grid.</a:t>
            </a:r>
          </a:p>
          <a:p>
            <a:pPr marL="1028700" lvl="1" indent="-342900">
              <a:buFont typeface="+mj-lt"/>
              <a:buAutoNum type="arabicPeriod"/>
            </a:pPr>
            <a:r>
              <a:rPr lang="en-US" sz="1600" dirty="0"/>
              <a:t>Convolutional Layer: The convolutional layer applies filters to the input data in order to extract specific features. These filters are usually small squares or rectangles that slide over the input data, performing a mathematical operation (convolution) at each position.</a:t>
            </a:r>
          </a:p>
          <a:p>
            <a:pPr marL="1028700" lvl="1" indent="-342900">
              <a:buFont typeface="+mj-lt"/>
              <a:buAutoNum type="arabicPeriod"/>
            </a:pPr>
            <a:r>
              <a:rPr lang="en-US" sz="1600" dirty="0"/>
              <a:t>Pooling Layer: The pooling layer reduces the spatial dimensions of the output from the convolutional layer by summarizing each local neighborhood of the data. The most common type of pooling layer is the Max Pooling layer, which selects the maximum value within each neighborhood.</a:t>
            </a:r>
          </a:p>
          <a:p>
            <a:pPr marL="1028700" lvl="1" indent="-342900">
              <a:buFont typeface="+mj-lt"/>
              <a:buAutoNum type="arabicPeriod"/>
            </a:pPr>
            <a:r>
              <a:rPr lang="en-US" sz="1600" dirty="0"/>
              <a:t>Activation Layer: The activation layer applies a non-linear activation function to the output of the previous layer. This introduces non-linearity into the model and helps it learn more complex representations of the data.</a:t>
            </a:r>
          </a:p>
          <a:p>
            <a:pPr marL="1028700" lvl="1" indent="-342900">
              <a:buFont typeface="+mj-lt"/>
              <a:buAutoNum type="arabicPeriod"/>
            </a:pPr>
            <a:r>
              <a:rPr lang="en-US" sz="1600" dirty="0"/>
              <a:t>Fully-Connected Layer: The fully-connected layer takes the output from the previous layer and applies a linear transformation to produce a final output. This layer is typically used at the end of the CNN to classify or predict a label for the input data.</a:t>
            </a:r>
          </a:p>
          <a:p>
            <a:pPr marL="285750" indent="-285750">
              <a:buFont typeface="Arial" panose="020B0604020202020204" pitchFamily="34" charset="0"/>
              <a:buChar char="•"/>
            </a:pPr>
            <a:endParaRPr lang="en-US" sz="1600"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a:xfrm>
            <a:off x="10945367" y="88287"/>
            <a:ext cx="987552" cy="274320"/>
          </a:xfrm>
        </p:spPr>
        <p:txBody>
          <a:bodyPr/>
          <a:lstStyle/>
          <a:p>
            <a:fld id="{48F63A3B-78C7-47BE-AE5E-E10140E04643}" type="slidenum">
              <a:rPr lang="en-US" smtClean="0"/>
              <a:t>5</a:t>
            </a:fld>
            <a:endParaRPr lang="en-US" dirty="0"/>
          </a:p>
        </p:txBody>
      </p:sp>
    </p:spTree>
    <p:extLst>
      <p:ext uri="{BB962C8B-B14F-4D97-AF65-F5344CB8AC3E}">
        <p14:creationId xmlns:p14="http://schemas.microsoft.com/office/powerpoint/2010/main" val="2496794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71CEB5-0F43-BA22-C4E7-3A84E631DA11}"/>
              </a:ext>
            </a:extLst>
          </p:cNvPr>
          <p:cNvSpPr>
            <a:spLocks noGrp="1"/>
          </p:cNvSpPr>
          <p:nvPr>
            <p:ph type="title"/>
          </p:nvPr>
        </p:nvSpPr>
        <p:spPr>
          <a:xfrm>
            <a:off x="760476" y="866461"/>
            <a:ext cx="10671048" cy="768096"/>
          </a:xfrm>
        </p:spPr>
        <p:txBody>
          <a:bodyPr/>
          <a:lstStyle/>
          <a:p>
            <a:r>
              <a:rPr lang="en-US" dirty="0"/>
              <a:t>Evaluating our model</a:t>
            </a:r>
          </a:p>
        </p:txBody>
      </p:sp>
      <p:sp>
        <p:nvSpPr>
          <p:cNvPr id="19" name="Footer Placeholder 13">
            <a:extLst>
              <a:ext uri="{FF2B5EF4-FFF2-40B4-BE49-F238E27FC236}">
                <a16:creationId xmlns:a16="http://schemas.microsoft.com/office/drawing/2014/main" id="{045BA8B7-8D09-2B01-6BA4-3109267AA2A6}"/>
              </a:ext>
            </a:extLst>
          </p:cNvPr>
          <p:cNvSpPr>
            <a:spLocks noGrp="1"/>
          </p:cNvSpPr>
          <p:nvPr>
            <p:ph type="ftr" sz="quarter" idx="11"/>
          </p:nvPr>
        </p:nvSpPr>
        <p:spPr>
          <a:xfrm>
            <a:off x="442245" y="520629"/>
            <a:ext cx="8538079" cy="274320"/>
          </a:xfrm>
        </p:spPr>
        <p:txBody>
          <a:bodyPr/>
          <a:lstStyle/>
          <a:p>
            <a:r>
              <a:rPr lang="en-US" dirty="0"/>
              <a:t>Detection of Malaria in Blood Cell Using Convolution Neural Network</a:t>
            </a:r>
          </a:p>
        </p:txBody>
      </p:sp>
      <p:sp>
        <p:nvSpPr>
          <p:cNvPr id="102" name="Slide Number Placeholder 101">
            <a:extLst>
              <a:ext uri="{FF2B5EF4-FFF2-40B4-BE49-F238E27FC236}">
                <a16:creationId xmlns:a16="http://schemas.microsoft.com/office/drawing/2014/main" id="{51BDF1B8-4D26-9C08-3102-6224AA6A4D20}"/>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7" name="Text Placeholder 6">
            <a:extLst>
              <a:ext uri="{FF2B5EF4-FFF2-40B4-BE49-F238E27FC236}">
                <a16:creationId xmlns:a16="http://schemas.microsoft.com/office/drawing/2014/main" id="{0BF56CE2-ADEB-1E22-50FB-9F2AB3786483}"/>
              </a:ext>
            </a:extLst>
          </p:cNvPr>
          <p:cNvSpPr>
            <a:spLocks noGrp="1"/>
          </p:cNvSpPr>
          <p:nvPr>
            <p:ph type="body" sz="quarter" idx="18"/>
          </p:nvPr>
        </p:nvSpPr>
        <p:spPr>
          <a:xfrm>
            <a:off x="1590507" y="1830196"/>
            <a:ext cx="9255513" cy="1806565"/>
          </a:xfrm>
        </p:spPr>
        <p:txBody>
          <a:bodyPr/>
          <a:lstStyle/>
          <a:p>
            <a:pPr algn="just"/>
            <a:r>
              <a:rPr lang="en-US" dirty="0"/>
              <a:t>The output layer in the model are a Dense (2) layer i.e. the output is in the form of 2 output values</a:t>
            </a:r>
          </a:p>
          <a:p>
            <a:pPr algn="just"/>
            <a:r>
              <a:rPr lang="en-US" dirty="0"/>
              <a:t>Probability of belonging to class 0 and probability of belonging to class 1.</a:t>
            </a:r>
          </a:p>
          <a:p>
            <a:pPr algn="just"/>
            <a:r>
              <a:rPr lang="en-US" dirty="0"/>
              <a:t>So, there is less chance of the model getting confused whenever there are unknown test instances.</a:t>
            </a:r>
          </a:p>
          <a:p>
            <a:pPr algn="just"/>
            <a:r>
              <a:rPr lang="en-US" dirty="0"/>
              <a:t> When the network gets confused the network will return the value with the higher probability so there is no erratic behavior during training and validation.</a:t>
            </a:r>
          </a:p>
        </p:txBody>
      </p:sp>
      <p:pic>
        <p:nvPicPr>
          <p:cNvPr id="11" name="Picture 10">
            <a:extLst>
              <a:ext uri="{FF2B5EF4-FFF2-40B4-BE49-F238E27FC236}">
                <a16:creationId xmlns:a16="http://schemas.microsoft.com/office/drawing/2014/main" id="{3076B4DB-6106-2D80-0176-CF6E1B2C7951}"/>
              </a:ext>
            </a:extLst>
          </p:cNvPr>
          <p:cNvPicPr>
            <a:picLocks noChangeAspect="1"/>
          </p:cNvPicPr>
          <p:nvPr/>
        </p:nvPicPr>
        <p:blipFill>
          <a:blip r:embed="rId2"/>
          <a:stretch>
            <a:fillRect/>
          </a:stretch>
        </p:blipFill>
        <p:spPr>
          <a:xfrm>
            <a:off x="2293848" y="3832400"/>
            <a:ext cx="7848829" cy="2542032"/>
          </a:xfrm>
          <a:prstGeom prst="rect">
            <a:avLst/>
          </a:prstGeom>
        </p:spPr>
      </p:pic>
    </p:spTree>
    <p:extLst>
      <p:ext uri="{BB962C8B-B14F-4D97-AF65-F5344CB8AC3E}">
        <p14:creationId xmlns:p14="http://schemas.microsoft.com/office/powerpoint/2010/main" val="249904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C09F16-6D23-666F-6800-8FC697831948}"/>
              </a:ext>
            </a:extLst>
          </p:cNvPr>
          <p:cNvSpPr>
            <a:spLocks noGrp="1"/>
          </p:cNvSpPr>
          <p:nvPr>
            <p:ph type="title"/>
          </p:nvPr>
        </p:nvSpPr>
        <p:spPr>
          <a:xfrm>
            <a:off x="939065" y="507880"/>
            <a:ext cx="10685376" cy="700810"/>
          </a:xfrm>
        </p:spPr>
        <p:txBody>
          <a:bodyPr/>
          <a:lstStyle/>
          <a:p>
            <a:r>
              <a:rPr lang="en-US" sz="3300" dirty="0"/>
              <a:t>SYSTEM ARCHITECTURE</a:t>
            </a:r>
          </a:p>
        </p:txBody>
      </p:sp>
      <p:sp>
        <p:nvSpPr>
          <p:cNvPr id="74" name="Slide Number Placeholder 73">
            <a:extLst>
              <a:ext uri="{FF2B5EF4-FFF2-40B4-BE49-F238E27FC236}">
                <a16:creationId xmlns:a16="http://schemas.microsoft.com/office/drawing/2014/main" id="{B964C6B0-844C-A964-2B74-46CF893E1381}"/>
              </a:ext>
            </a:extLst>
          </p:cNvPr>
          <p:cNvSpPr>
            <a:spLocks noGrp="1"/>
          </p:cNvSpPr>
          <p:nvPr>
            <p:ph type="sldNum" sz="quarter" idx="12"/>
          </p:nvPr>
        </p:nvSpPr>
        <p:spPr>
          <a:xfrm>
            <a:off x="10936177" y="99852"/>
            <a:ext cx="987552" cy="274320"/>
          </a:xfrm>
        </p:spPr>
        <p:txBody>
          <a:bodyPr/>
          <a:lstStyle/>
          <a:p>
            <a:fld id="{48F63A3B-78C7-47BE-AE5E-E10140E04643}" type="slidenum">
              <a:rPr lang="en-US" smtClean="0"/>
              <a:pPr/>
              <a:t>7</a:t>
            </a:fld>
            <a:endParaRPr lang="en-US" dirty="0"/>
          </a:p>
        </p:txBody>
      </p:sp>
      <p:sp>
        <p:nvSpPr>
          <p:cNvPr id="37" name="Footer Placeholder 13">
            <a:extLst>
              <a:ext uri="{FF2B5EF4-FFF2-40B4-BE49-F238E27FC236}">
                <a16:creationId xmlns:a16="http://schemas.microsoft.com/office/drawing/2014/main" id="{539F614F-8B1B-8115-A2B5-8FFEEAF0C033}"/>
              </a:ext>
            </a:extLst>
          </p:cNvPr>
          <p:cNvSpPr txBox="1">
            <a:spLocks/>
          </p:cNvSpPr>
          <p:nvPr/>
        </p:nvSpPr>
        <p:spPr>
          <a:xfrm>
            <a:off x="139002" y="99852"/>
            <a:ext cx="8538079" cy="274320"/>
          </a:xfrm>
          <a:prstGeom prst="rect">
            <a:avLst/>
          </a:prstGeom>
        </p:spPr>
        <p:txBody>
          <a:bodyPr vert="horz" lIns="91440" tIns="45720" rIns="91440" bIns="45720" rtlCol="0" anchor="ctr">
            <a:noAutofit/>
          </a:bodyPr>
          <a:lstStyle>
            <a:defPPr>
              <a:defRPr lang="en-US"/>
            </a:defPPr>
            <a:lvl1pPr marL="0" algn="l" defTabSz="457200" rtl="0" eaLnBrk="1" latinLnBrk="0" hangingPunct="1">
              <a:defRPr sz="1200" kern="1200">
                <a:solidFill>
                  <a:schemeClr val="accent6"/>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Detection of Malaria in Blood Cell Using Convolution Neural Network</a:t>
            </a:r>
          </a:p>
        </p:txBody>
      </p:sp>
      <p:pic>
        <p:nvPicPr>
          <p:cNvPr id="3" name="Picture 2" descr="A screenshot of a computer&#10;&#10;Description automatically generated with medium confidence">
            <a:extLst>
              <a:ext uri="{FF2B5EF4-FFF2-40B4-BE49-F238E27FC236}">
                <a16:creationId xmlns:a16="http://schemas.microsoft.com/office/drawing/2014/main" id="{6FAF2D4A-F686-86F1-B96C-EAF508D9FFE3}"/>
              </a:ext>
            </a:extLst>
          </p:cNvPr>
          <p:cNvPicPr>
            <a:picLocks noChangeAspect="1"/>
          </p:cNvPicPr>
          <p:nvPr/>
        </p:nvPicPr>
        <p:blipFill rotWithShape="1">
          <a:blip r:embed="rId2"/>
          <a:srcRect t="7654"/>
          <a:stretch/>
        </p:blipFill>
        <p:spPr>
          <a:xfrm>
            <a:off x="0" y="858285"/>
            <a:ext cx="12055366" cy="4233257"/>
          </a:xfrm>
          <a:prstGeom prst="rect">
            <a:avLst/>
          </a:prstGeom>
        </p:spPr>
      </p:pic>
    </p:spTree>
    <p:extLst>
      <p:ext uri="{BB962C8B-B14F-4D97-AF65-F5344CB8AC3E}">
        <p14:creationId xmlns:p14="http://schemas.microsoft.com/office/powerpoint/2010/main" val="1830340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C09F16-6D23-666F-6800-8FC697831948}"/>
              </a:ext>
            </a:extLst>
          </p:cNvPr>
          <p:cNvSpPr>
            <a:spLocks noGrp="1"/>
          </p:cNvSpPr>
          <p:nvPr>
            <p:ph type="title"/>
          </p:nvPr>
        </p:nvSpPr>
        <p:spPr>
          <a:xfrm>
            <a:off x="768096" y="29486"/>
            <a:ext cx="10671048" cy="768096"/>
          </a:xfrm>
        </p:spPr>
        <p:txBody>
          <a:bodyPr/>
          <a:lstStyle/>
          <a:p>
            <a:r>
              <a:rPr lang="en-US" dirty="0"/>
              <a:t>SCREENSHOTS</a:t>
            </a:r>
          </a:p>
        </p:txBody>
      </p:sp>
      <p:sp>
        <p:nvSpPr>
          <p:cNvPr id="218" name="Slide Number Placeholder 217">
            <a:extLst>
              <a:ext uri="{FF2B5EF4-FFF2-40B4-BE49-F238E27FC236}">
                <a16:creationId xmlns:a16="http://schemas.microsoft.com/office/drawing/2014/main" id="{C29F391A-4647-2731-26B5-3B262D8730A1}"/>
              </a:ext>
            </a:extLst>
          </p:cNvPr>
          <p:cNvSpPr>
            <a:spLocks noGrp="1"/>
          </p:cNvSpPr>
          <p:nvPr>
            <p:ph type="sldNum" sz="quarter" idx="12"/>
          </p:nvPr>
        </p:nvSpPr>
        <p:spPr/>
        <p:txBody>
          <a:bodyPr/>
          <a:lstStyle/>
          <a:p>
            <a:fld id="{48F63A3B-78C7-47BE-AE5E-E10140E04643}" type="slidenum">
              <a:rPr lang="en-US" smtClean="0"/>
              <a:pPr/>
              <a:t>8</a:t>
            </a:fld>
            <a:endParaRPr lang="en-US" dirty="0"/>
          </a:p>
        </p:txBody>
      </p:sp>
      <p:sp>
        <p:nvSpPr>
          <p:cNvPr id="2" name="Text Placeholder 1">
            <a:extLst>
              <a:ext uri="{FF2B5EF4-FFF2-40B4-BE49-F238E27FC236}">
                <a16:creationId xmlns:a16="http://schemas.microsoft.com/office/drawing/2014/main" id="{B2AF69D5-AD7B-521D-22B1-50D8A24356AC}"/>
              </a:ext>
            </a:extLst>
          </p:cNvPr>
          <p:cNvSpPr>
            <a:spLocks noGrp="1"/>
          </p:cNvSpPr>
          <p:nvPr>
            <p:ph type="body" sz="quarter" idx="14"/>
          </p:nvPr>
        </p:nvSpPr>
        <p:spPr>
          <a:xfrm>
            <a:off x="1025803" y="5868416"/>
            <a:ext cx="2029968" cy="694944"/>
          </a:xfrm>
        </p:spPr>
        <p:txBody>
          <a:bodyPr/>
          <a:lstStyle/>
          <a:p>
            <a:r>
              <a:rPr lang="en-US" dirty="0"/>
              <a:t>Welcome Page</a:t>
            </a:r>
          </a:p>
        </p:txBody>
      </p:sp>
      <p:pic>
        <p:nvPicPr>
          <p:cNvPr id="5" name="Picture 4">
            <a:extLst>
              <a:ext uri="{FF2B5EF4-FFF2-40B4-BE49-F238E27FC236}">
                <a16:creationId xmlns:a16="http://schemas.microsoft.com/office/drawing/2014/main" id="{89BEA4E1-124D-CC56-9184-28DD3F7F0F57}"/>
              </a:ext>
            </a:extLst>
          </p:cNvPr>
          <p:cNvPicPr>
            <a:picLocks noChangeAspect="1"/>
          </p:cNvPicPr>
          <p:nvPr/>
        </p:nvPicPr>
        <p:blipFill>
          <a:blip r:embed="rId2"/>
          <a:stretch>
            <a:fillRect/>
          </a:stretch>
        </p:blipFill>
        <p:spPr>
          <a:xfrm>
            <a:off x="939901" y="897355"/>
            <a:ext cx="2201773" cy="4892829"/>
          </a:xfrm>
          <a:prstGeom prst="rect">
            <a:avLst/>
          </a:prstGeom>
        </p:spPr>
      </p:pic>
      <p:pic>
        <p:nvPicPr>
          <p:cNvPr id="7" name="Picture 6">
            <a:extLst>
              <a:ext uri="{FF2B5EF4-FFF2-40B4-BE49-F238E27FC236}">
                <a16:creationId xmlns:a16="http://schemas.microsoft.com/office/drawing/2014/main" id="{81797BA8-6BFD-D2CA-A2FE-6DACE94E9673}"/>
              </a:ext>
            </a:extLst>
          </p:cNvPr>
          <p:cNvPicPr>
            <a:picLocks noChangeAspect="1"/>
          </p:cNvPicPr>
          <p:nvPr/>
        </p:nvPicPr>
        <p:blipFill>
          <a:blip r:embed="rId3"/>
          <a:stretch>
            <a:fillRect/>
          </a:stretch>
        </p:blipFill>
        <p:spPr>
          <a:xfrm>
            <a:off x="3717036" y="897354"/>
            <a:ext cx="2201773" cy="4892830"/>
          </a:xfrm>
          <a:prstGeom prst="rect">
            <a:avLst/>
          </a:prstGeom>
        </p:spPr>
      </p:pic>
      <p:sp>
        <p:nvSpPr>
          <p:cNvPr id="17" name="Text Placeholder 8">
            <a:extLst>
              <a:ext uri="{FF2B5EF4-FFF2-40B4-BE49-F238E27FC236}">
                <a16:creationId xmlns:a16="http://schemas.microsoft.com/office/drawing/2014/main" id="{3AAC6662-1D15-BC72-11EB-DDE2B6C14511}"/>
              </a:ext>
            </a:extLst>
          </p:cNvPr>
          <p:cNvSpPr txBox="1">
            <a:spLocks/>
          </p:cNvSpPr>
          <p:nvPr/>
        </p:nvSpPr>
        <p:spPr>
          <a:xfrm>
            <a:off x="3717036" y="5868416"/>
            <a:ext cx="2029968" cy="694944"/>
          </a:xfrm>
          <a:prstGeom prst="rect">
            <a:avLst/>
          </a:prstGeom>
          <a:solidFill>
            <a:schemeClr val="accent1"/>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Smear type</a:t>
            </a:r>
          </a:p>
        </p:txBody>
      </p:sp>
      <p:sp>
        <p:nvSpPr>
          <p:cNvPr id="20" name="Text Placeholder 1">
            <a:extLst>
              <a:ext uri="{FF2B5EF4-FFF2-40B4-BE49-F238E27FC236}">
                <a16:creationId xmlns:a16="http://schemas.microsoft.com/office/drawing/2014/main" id="{049C3E5C-E634-C418-B000-BA37A28082FA}"/>
              </a:ext>
            </a:extLst>
          </p:cNvPr>
          <p:cNvSpPr txBox="1">
            <a:spLocks/>
          </p:cNvSpPr>
          <p:nvPr/>
        </p:nvSpPr>
        <p:spPr>
          <a:xfrm>
            <a:off x="6408269" y="5868416"/>
            <a:ext cx="2029968" cy="694944"/>
          </a:xfrm>
          <a:prstGeom prst="rect">
            <a:avLst/>
          </a:prstGeom>
          <a:solidFill>
            <a:schemeClr val="accent4"/>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THICK SMEAR </a:t>
            </a:r>
          </a:p>
          <a:p>
            <a:r>
              <a:rPr lang="en-US" dirty="0"/>
              <a:t>RESULT</a:t>
            </a:r>
          </a:p>
          <a:p>
            <a:endParaRPr lang="en-US" dirty="0"/>
          </a:p>
        </p:txBody>
      </p:sp>
      <p:sp>
        <p:nvSpPr>
          <p:cNvPr id="22" name="Text Placeholder 8">
            <a:extLst>
              <a:ext uri="{FF2B5EF4-FFF2-40B4-BE49-F238E27FC236}">
                <a16:creationId xmlns:a16="http://schemas.microsoft.com/office/drawing/2014/main" id="{4C80231C-51F3-A7E7-8C17-4891C48E5207}"/>
              </a:ext>
            </a:extLst>
          </p:cNvPr>
          <p:cNvSpPr txBox="1">
            <a:spLocks/>
          </p:cNvSpPr>
          <p:nvPr/>
        </p:nvSpPr>
        <p:spPr>
          <a:xfrm>
            <a:off x="9114636" y="5868416"/>
            <a:ext cx="2029968" cy="694944"/>
          </a:xfrm>
          <a:prstGeom prst="rect">
            <a:avLst/>
          </a:prstGeom>
          <a:solidFill>
            <a:schemeClr val="accent1"/>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COLLECTING PATIENT INFORMATION</a:t>
            </a:r>
          </a:p>
        </p:txBody>
      </p:sp>
      <p:pic>
        <p:nvPicPr>
          <p:cNvPr id="23" name="Picture 22">
            <a:extLst>
              <a:ext uri="{FF2B5EF4-FFF2-40B4-BE49-F238E27FC236}">
                <a16:creationId xmlns:a16="http://schemas.microsoft.com/office/drawing/2014/main" id="{CDB64F33-E705-9F6E-DF82-925FE8BA5D2E}"/>
              </a:ext>
            </a:extLst>
          </p:cNvPr>
          <p:cNvPicPr>
            <a:picLocks noChangeAspect="1"/>
          </p:cNvPicPr>
          <p:nvPr/>
        </p:nvPicPr>
        <p:blipFill>
          <a:blip r:embed="rId4"/>
          <a:stretch>
            <a:fillRect/>
          </a:stretch>
        </p:blipFill>
        <p:spPr>
          <a:xfrm>
            <a:off x="6329933" y="897355"/>
            <a:ext cx="2201773" cy="4892829"/>
          </a:xfrm>
          <a:prstGeom prst="rect">
            <a:avLst/>
          </a:prstGeom>
        </p:spPr>
      </p:pic>
      <p:pic>
        <p:nvPicPr>
          <p:cNvPr id="24" name="Picture 23">
            <a:extLst>
              <a:ext uri="{FF2B5EF4-FFF2-40B4-BE49-F238E27FC236}">
                <a16:creationId xmlns:a16="http://schemas.microsoft.com/office/drawing/2014/main" id="{2B52EF8C-3A1C-840E-80D4-BA8D40F88D9F}"/>
              </a:ext>
            </a:extLst>
          </p:cNvPr>
          <p:cNvPicPr>
            <a:picLocks noChangeAspect="1"/>
          </p:cNvPicPr>
          <p:nvPr/>
        </p:nvPicPr>
        <p:blipFill>
          <a:blip r:embed="rId5"/>
          <a:stretch>
            <a:fillRect/>
          </a:stretch>
        </p:blipFill>
        <p:spPr>
          <a:xfrm>
            <a:off x="9028733" y="886585"/>
            <a:ext cx="2201773" cy="4892828"/>
          </a:xfrm>
          <a:prstGeom prst="rect">
            <a:avLst/>
          </a:prstGeom>
        </p:spPr>
      </p:pic>
    </p:spTree>
    <p:extLst>
      <p:ext uri="{BB962C8B-B14F-4D97-AF65-F5344CB8AC3E}">
        <p14:creationId xmlns:p14="http://schemas.microsoft.com/office/powerpoint/2010/main" val="8575420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C09F16-6D23-666F-6800-8FC697831948}"/>
              </a:ext>
            </a:extLst>
          </p:cNvPr>
          <p:cNvSpPr>
            <a:spLocks noGrp="1"/>
          </p:cNvSpPr>
          <p:nvPr>
            <p:ph type="title"/>
          </p:nvPr>
        </p:nvSpPr>
        <p:spPr>
          <a:xfrm>
            <a:off x="768096" y="29486"/>
            <a:ext cx="10671048" cy="768096"/>
          </a:xfrm>
        </p:spPr>
        <p:txBody>
          <a:bodyPr/>
          <a:lstStyle/>
          <a:p>
            <a:r>
              <a:rPr lang="en-US" dirty="0"/>
              <a:t>SCREENSHOTS</a:t>
            </a:r>
          </a:p>
        </p:txBody>
      </p:sp>
      <p:sp>
        <p:nvSpPr>
          <p:cNvPr id="218" name="Slide Number Placeholder 217">
            <a:extLst>
              <a:ext uri="{FF2B5EF4-FFF2-40B4-BE49-F238E27FC236}">
                <a16:creationId xmlns:a16="http://schemas.microsoft.com/office/drawing/2014/main" id="{C29F391A-4647-2731-26B5-3B262D8730A1}"/>
              </a:ext>
            </a:extLst>
          </p:cNvPr>
          <p:cNvSpPr>
            <a:spLocks noGrp="1"/>
          </p:cNvSpPr>
          <p:nvPr>
            <p:ph type="sldNum" sz="quarter" idx="12"/>
          </p:nvPr>
        </p:nvSpPr>
        <p:spPr/>
        <p:txBody>
          <a:bodyPr/>
          <a:lstStyle/>
          <a:p>
            <a:fld id="{48F63A3B-78C7-47BE-AE5E-E10140E04643}" type="slidenum">
              <a:rPr lang="en-US" smtClean="0"/>
              <a:pPr/>
              <a:t>9</a:t>
            </a:fld>
            <a:endParaRPr lang="en-US" dirty="0"/>
          </a:p>
        </p:txBody>
      </p:sp>
      <p:sp>
        <p:nvSpPr>
          <p:cNvPr id="2" name="Text Placeholder 1">
            <a:extLst>
              <a:ext uri="{FF2B5EF4-FFF2-40B4-BE49-F238E27FC236}">
                <a16:creationId xmlns:a16="http://schemas.microsoft.com/office/drawing/2014/main" id="{B2AF69D5-AD7B-521D-22B1-50D8A24356AC}"/>
              </a:ext>
            </a:extLst>
          </p:cNvPr>
          <p:cNvSpPr>
            <a:spLocks noGrp="1"/>
          </p:cNvSpPr>
          <p:nvPr>
            <p:ph type="body" sz="quarter" idx="14"/>
          </p:nvPr>
        </p:nvSpPr>
        <p:spPr>
          <a:xfrm>
            <a:off x="1025803" y="5868416"/>
            <a:ext cx="2029968" cy="694944"/>
          </a:xfrm>
        </p:spPr>
        <p:txBody>
          <a:bodyPr/>
          <a:lstStyle/>
          <a:p>
            <a:r>
              <a:rPr lang="en-US" dirty="0"/>
              <a:t>PATIENT INFO</a:t>
            </a:r>
          </a:p>
        </p:txBody>
      </p:sp>
      <p:sp>
        <p:nvSpPr>
          <p:cNvPr id="17" name="Text Placeholder 8">
            <a:extLst>
              <a:ext uri="{FF2B5EF4-FFF2-40B4-BE49-F238E27FC236}">
                <a16:creationId xmlns:a16="http://schemas.microsoft.com/office/drawing/2014/main" id="{3AAC6662-1D15-BC72-11EB-DDE2B6C14511}"/>
              </a:ext>
            </a:extLst>
          </p:cNvPr>
          <p:cNvSpPr txBox="1">
            <a:spLocks/>
          </p:cNvSpPr>
          <p:nvPr/>
        </p:nvSpPr>
        <p:spPr>
          <a:xfrm>
            <a:off x="3717036" y="5868416"/>
            <a:ext cx="2029968" cy="694944"/>
          </a:xfrm>
          <a:prstGeom prst="rect">
            <a:avLst/>
          </a:prstGeom>
          <a:solidFill>
            <a:schemeClr val="accent1"/>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SLIDE INFO</a:t>
            </a:r>
          </a:p>
        </p:txBody>
      </p:sp>
      <p:sp>
        <p:nvSpPr>
          <p:cNvPr id="20" name="Text Placeholder 1">
            <a:extLst>
              <a:ext uri="{FF2B5EF4-FFF2-40B4-BE49-F238E27FC236}">
                <a16:creationId xmlns:a16="http://schemas.microsoft.com/office/drawing/2014/main" id="{049C3E5C-E634-C418-B000-BA37A28082FA}"/>
              </a:ext>
            </a:extLst>
          </p:cNvPr>
          <p:cNvSpPr txBox="1">
            <a:spLocks/>
          </p:cNvSpPr>
          <p:nvPr/>
        </p:nvSpPr>
        <p:spPr>
          <a:xfrm>
            <a:off x="6408269" y="5868416"/>
            <a:ext cx="2029968" cy="694944"/>
          </a:xfrm>
          <a:prstGeom prst="rect">
            <a:avLst/>
          </a:prstGeom>
          <a:solidFill>
            <a:schemeClr val="accent4"/>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SUMMARY INFO</a:t>
            </a:r>
          </a:p>
        </p:txBody>
      </p:sp>
      <p:sp>
        <p:nvSpPr>
          <p:cNvPr id="22" name="Text Placeholder 8">
            <a:extLst>
              <a:ext uri="{FF2B5EF4-FFF2-40B4-BE49-F238E27FC236}">
                <a16:creationId xmlns:a16="http://schemas.microsoft.com/office/drawing/2014/main" id="{4C80231C-51F3-A7E7-8C17-4891C48E5207}"/>
              </a:ext>
            </a:extLst>
          </p:cNvPr>
          <p:cNvSpPr txBox="1">
            <a:spLocks/>
          </p:cNvSpPr>
          <p:nvPr/>
        </p:nvSpPr>
        <p:spPr>
          <a:xfrm>
            <a:off x="9114636" y="5868416"/>
            <a:ext cx="2029968" cy="694944"/>
          </a:xfrm>
          <a:prstGeom prst="rect">
            <a:avLst/>
          </a:prstGeom>
          <a:solidFill>
            <a:schemeClr val="accent1"/>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DATABASE</a:t>
            </a:r>
          </a:p>
        </p:txBody>
      </p:sp>
      <p:pic>
        <p:nvPicPr>
          <p:cNvPr id="3" name="Picture 2">
            <a:extLst>
              <a:ext uri="{FF2B5EF4-FFF2-40B4-BE49-F238E27FC236}">
                <a16:creationId xmlns:a16="http://schemas.microsoft.com/office/drawing/2014/main" id="{568876A2-DA67-872F-F254-9EA46FE732BA}"/>
              </a:ext>
            </a:extLst>
          </p:cNvPr>
          <p:cNvPicPr>
            <a:picLocks noChangeAspect="1"/>
          </p:cNvPicPr>
          <p:nvPr/>
        </p:nvPicPr>
        <p:blipFill>
          <a:blip r:embed="rId2"/>
          <a:stretch>
            <a:fillRect/>
          </a:stretch>
        </p:blipFill>
        <p:spPr>
          <a:xfrm>
            <a:off x="961494" y="897354"/>
            <a:ext cx="2201773" cy="4892828"/>
          </a:xfrm>
          <a:prstGeom prst="rect">
            <a:avLst/>
          </a:prstGeom>
        </p:spPr>
      </p:pic>
      <p:pic>
        <p:nvPicPr>
          <p:cNvPr id="6" name="Picture 5">
            <a:extLst>
              <a:ext uri="{FF2B5EF4-FFF2-40B4-BE49-F238E27FC236}">
                <a16:creationId xmlns:a16="http://schemas.microsoft.com/office/drawing/2014/main" id="{CEBE688F-5477-83BE-B212-99D8D016945E}"/>
              </a:ext>
            </a:extLst>
          </p:cNvPr>
          <p:cNvPicPr>
            <a:picLocks noChangeAspect="1"/>
          </p:cNvPicPr>
          <p:nvPr/>
        </p:nvPicPr>
        <p:blipFill>
          <a:blip r:embed="rId3"/>
          <a:stretch>
            <a:fillRect/>
          </a:stretch>
        </p:blipFill>
        <p:spPr>
          <a:xfrm>
            <a:off x="3631133" y="897354"/>
            <a:ext cx="2201773" cy="4892828"/>
          </a:xfrm>
          <a:prstGeom prst="rect">
            <a:avLst/>
          </a:prstGeom>
        </p:spPr>
      </p:pic>
      <p:pic>
        <p:nvPicPr>
          <p:cNvPr id="8" name="Picture 7">
            <a:extLst>
              <a:ext uri="{FF2B5EF4-FFF2-40B4-BE49-F238E27FC236}">
                <a16:creationId xmlns:a16="http://schemas.microsoft.com/office/drawing/2014/main" id="{ED25E9C9-8B09-3853-516A-ED91F81CCAD4}"/>
              </a:ext>
            </a:extLst>
          </p:cNvPr>
          <p:cNvPicPr>
            <a:picLocks noChangeAspect="1"/>
          </p:cNvPicPr>
          <p:nvPr/>
        </p:nvPicPr>
        <p:blipFill>
          <a:blip r:embed="rId4"/>
          <a:stretch>
            <a:fillRect/>
          </a:stretch>
        </p:blipFill>
        <p:spPr>
          <a:xfrm>
            <a:off x="6300772" y="897354"/>
            <a:ext cx="2201772" cy="4892827"/>
          </a:xfrm>
          <a:prstGeom prst="rect">
            <a:avLst/>
          </a:prstGeom>
        </p:spPr>
      </p:pic>
      <p:pic>
        <p:nvPicPr>
          <p:cNvPr id="9" name="Picture 8">
            <a:extLst>
              <a:ext uri="{FF2B5EF4-FFF2-40B4-BE49-F238E27FC236}">
                <a16:creationId xmlns:a16="http://schemas.microsoft.com/office/drawing/2014/main" id="{DC043249-A763-AF9A-14EF-5DB26FEE3DE7}"/>
              </a:ext>
            </a:extLst>
          </p:cNvPr>
          <p:cNvPicPr>
            <a:picLocks noChangeAspect="1"/>
          </p:cNvPicPr>
          <p:nvPr/>
        </p:nvPicPr>
        <p:blipFill>
          <a:blip r:embed="rId5"/>
          <a:stretch>
            <a:fillRect/>
          </a:stretch>
        </p:blipFill>
        <p:spPr>
          <a:xfrm>
            <a:off x="9028735" y="886584"/>
            <a:ext cx="2201773" cy="4892829"/>
          </a:xfrm>
          <a:prstGeom prst="rect">
            <a:avLst/>
          </a:prstGeom>
        </p:spPr>
      </p:pic>
    </p:spTree>
    <p:extLst>
      <p:ext uri="{BB962C8B-B14F-4D97-AF65-F5344CB8AC3E}">
        <p14:creationId xmlns:p14="http://schemas.microsoft.com/office/powerpoint/2010/main" val="41432030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C09F16-6D23-666F-6800-8FC697831948}"/>
              </a:ext>
            </a:extLst>
          </p:cNvPr>
          <p:cNvSpPr>
            <a:spLocks noGrp="1"/>
          </p:cNvSpPr>
          <p:nvPr>
            <p:ph type="title"/>
          </p:nvPr>
        </p:nvSpPr>
        <p:spPr>
          <a:xfrm>
            <a:off x="768096" y="29486"/>
            <a:ext cx="10671048" cy="768096"/>
          </a:xfrm>
        </p:spPr>
        <p:txBody>
          <a:bodyPr/>
          <a:lstStyle/>
          <a:p>
            <a:r>
              <a:rPr lang="en-US" dirty="0"/>
              <a:t>SCREENSHOTS</a:t>
            </a:r>
          </a:p>
        </p:txBody>
      </p:sp>
      <p:sp>
        <p:nvSpPr>
          <p:cNvPr id="218" name="Slide Number Placeholder 217">
            <a:extLst>
              <a:ext uri="{FF2B5EF4-FFF2-40B4-BE49-F238E27FC236}">
                <a16:creationId xmlns:a16="http://schemas.microsoft.com/office/drawing/2014/main" id="{C29F391A-4647-2731-26B5-3B262D8730A1}"/>
              </a:ext>
            </a:extLst>
          </p:cNvPr>
          <p:cNvSpPr>
            <a:spLocks noGrp="1"/>
          </p:cNvSpPr>
          <p:nvPr>
            <p:ph type="sldNum" sz="quarter" idx="12"/>
          </p:nvPr>
        </p:nvSpPr>
        <p:spPr/>
        <p:txBody>
          <a:bodyPr/>
          <a:lstStyle/>
          <a:p>
            <a:fld id="{48F63A3B-78C7-47BE-AE5E-E10140E04643}" type="slidenum">
              <a:rPr lang="en-US" smtClean="0"/>
              <a:pPr/>
              <a:t>10</a:t>
            </a:fld>
            <a:endParaRPr lang="en-US" dirty="0"/>
          </a:p>
        </p:txBody>
      </p:sp>
      <p:sp>
        <p:nvSpPr>
          <p:cNvPr id="2" name="Text Placeholder 1">
            <a:extLst>
              <a:ext uri="{FF2B5EF4-FFF2-40B4-BE49-F238E27FC236}">
                <a16:creationId xmlns:a16="http://schemas.microsoft.com/office/drawing/2014/main" id="{B2AF69D5-AD7B-521D-22B1-50D8A24356AC}"/>
              </a:ext>
            </a:extLst>
          </p:cNvPr>
          <p:cNvSpPr>
            <a:spLocks noGrp="1"/>
          </p:cNvSpPr>
          <p:nvPr>
            <p:ph type="body" sz="quarter" idx="14"/>
          </p:nvPr>
        </p:nvSpPr>
        <p:spPr>
          <a:xfrm>
            <a:off x="1025803" y="5868416"/>
            <a:ext cx="2029968" cy="694944"/>
          </a:xfrm>
        </p:spPr>
        <p:txBody>
          <a:bodyPr/>
          <a:lstStyle/>
          <a:p>
            <a:r>
              <a:rPr lang="en-US" dirty="0"/>
              <a:t>SLIDES</a:t>
            </a:r>
          </a:p>
        </p:txBody>
      </p:sp>
      <p:sp>
        <p:nvSpPr>
          <p:cNvPr id="17" name="Text Placeholder 8">
            <a:extLst>
              <a:ext uri="{FF2B5EF4-FFF2-40B4-BE49-F238E27FC236}">
                <a16:creationId xmlns:a16="http://schemas.microsoft.com/office/drawing/2014/main" id="{3AAC6662-1D15-BC72-11EB-DDE2B6C14511}"/>
              </a:ext>
            </a:extLst>
          </p:cNvPr>
          <p:cNvSpPr txBox="1">
            <a:spLocks/>
          </p:cNvSpPr>
          <p:nvPr/>
        </p:nvSpPr>
        <p:spPr>
          <a:xfrm>
            <a:off x="3717036" y="5868416"/>
            <a:ext cx="2029968" cy="694944"/>
          </a:xfrm>
          <a:prstGeom prst="rect">
            <a:avLst/>
          </a:prstGeom>
          <a:solidFill>
            <a:schemeClr val="accent1"/>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RESULT</a:t>
            </a:r>
          </a:p>
        </p:txBody>
      </p:sp>
      <p:sp>
        <p:nvSpPr>
          <p:cNvPr id="20" name="Text Placeholder 1">
            <a:extLst>
              <a:ext uri="{FF2B5EF4-FFF2-40B4-BE49-F238E27FC236}">
                <a16:creationId xmlns:a16="http://schemas.microsoft.com/office/drawing/2014/main" id="{049C3E5C-E634-C418-B000-BA37A28082FA}"/>
              </a:ext>
            </a:extLst>
          </p:cNvPr>
          <p:cNvSpPr txBox="1">
            <a:spLocks/>
          </p:cNvSpPr>
          <p:nvPr/>
        </p:nvSpPr>
        <p:spPr>
          <a:xfrm>
            <a:off x="6408269" y="5868416"/>
            <a:ext cx="2029968" cy="694944"/>
          </a:xfrm>
          <a:prstGeom prst="rect">
            <a:avLst/>
          </a:prstGeom>
          <a:solidFill>
            <a:schemeClr val="accent4"/>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SUMMARY REPORT</a:t>
            </a:r>
          </a:p>
        </p:txBody>
      </p:sp>
      <p:sp>
        <p:nvSpPr>
          <p:cNvPr id="22" name="Text Placeholder 8">
            <a:extLst>
              <a:ext uri="{FF2B5EF4-FFF2-40B4-BE49-F238E27FC236}">
                <a16:creationId xmlns:a16="http://schemas.microsoft.com/office/drawing/2014/main" id="{4C80231C-51F3-A7E7-8C17-4891C48E5207}"/>
              </a:ext>
            </a:extLst>
          </p:cNvPr>
          <p:cNvSpPr txBox="1">
            <a:spLocks/>
          </p:cNvSpPr>
          <p:nvPr/>
        </p:nvSpPr>
        <p:spPr>
          <a:xfrm>
            <a:off x="9114636" y="5868416"/>
            <a:ext cx="2029968" cy="694944"/>
          </a:xfrm>
          <a:prstGeom prst="rect">
            <a:avLst/>
          </a:prstGeom>
          <a:solidFill>
            <a:schemeClr val="accent1"/>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SLIDES</a:t>
            </a:r>
          </a:p>
        </p:txBody>
      </p:sp>
      <p:pic>
        <p:nvPicPr>
          <p:cNvPr id="5" name="Picture 4">
            <a:extLst>
              <a:ext uri="{FF2B5EF4-FFF2-40B4-BE49-F238E27FC236}">
                <a16:creationId xmlns:a16="http://schemas.microsoft.com/office/drawing/2014/main" id="{B6451E90-57B9-C32C-9C55-0723F6D63B65}"/>
              </a:ext>
            </a:extLst>
          </p:cNvPr>
          <p:cNvPicPr>
            <a:picLocks noChangeAspect="1"/>
          </p:cNvPicPr>
          <p:nvPr/>
        </p:nvPicPr>
        <p:blipFill>
          <a:blip r:embed="rId2"/>
          <a:stretch>
            <a:fillRect/>
          </a:stretch>
        </p:blipFill>
        <p:spPr>
          <a:xfrm>
            <a:off x="961492" y="897354"/>
            <a:ext cx="2206618" cy="4903597"/>
          </a:xfrm>
          <a:prstGeom prst="rect">
            <a:avLst/>
          </a:prstGeom>
        </p:spPr>
      </p:pic>
      <p:pic>
        <p:nvPicPr>
          <p:cNvPr id="7" name="Picture 6">
            <a:extLst>
              <a:ext uri="{FF2B5EF4-FFF2-40B4-BE49-F238E27FC236}">
                <a16:creationId xmlns:a16="http://schemas.microsoft.com/office/drawing/2014/main" id="{DF6792C2-2F26-C9D9-D74D-8779F32DAA52}"/>
              </a:ext>
            </a:extLst>
          </p:cNvPr>
          <p:cNvPicPr>
            <a:picLocks noChangeAspect="1"/>
          </p:cNvPicPr>
          <p:nvPr/>
        </p:nvPicPr>
        <p:blipFill>
          <a:blip r:embed="rId3"/>
          <a:stretch>
            <a:fillRect/>
          </a:stretch>
        </p:blipFill>
        <p:spPr>
          <a:xfrm>
            <a:off x="3633554" y="897354"/>
            <a:ext cx="2201773" cy="4892829"/>
          </a:xfrm>
          <a:prstGeom prst="rect">
            <a:avLst/>
          </a:prstGeom>
        </p:spPr>
      </p:pic>
      <p:pic>
        <p:nvPicPr>
          <p:cNvPr id="10" name="Picture 9">
            <a:extLst>
              <a:ext uri="{FF2B5EF4-FFF2-40B4-BE49-F238E27FC236}">
                <a16:creationId xmlns:a16="http://schemas.microsoft.com/office/drawing/2014/main" id="{A2788A38-3631-81C8-E1D4-728A1E982DB0}"/>
              </a:ext>
            </a:extLst>
          </p:cNvPr>
          <p:cNvPicPr>
            <a:picLocks noChangeAspect="1"/>
          </p:cNvPicPr>
          <p:nvPr/>
        </p:nvPicPr>
        <p:blipFill>
          <a:blip r:embed="rId4"/>
          <a:stretch>
            <a:fillRect/>
          </a:stretch>
        </p:blipFill>
        <p:spPr>
          <a:xfrm>
            <a:off x="6333566" y="891968"/>
            <a:ext cx="2196929" cy="4882062"/>
          </a:xfrm>
          <a:prstGeom prst="rect">
            <a:avLst/>
          </a:prstGeom>
        </p:spPr>
      </p:pic>
      <p:pic>
        <p:nvPicPr>
          <p:cNvPr id="11" name="Picture 10">
            <a:extLst>
              <a:ext uri="{FF2B5EF4-FFF2-40B4-BE49-F238E27FC236}">
                <a16:creationId xmlns:a16="http://schemas.microsoft.com/office/drawing/2014/main" id="{00B402B2-8E46-B396-4BC2-5F0842BE1B19}"/>
              </a:ext>
            </a:extLst>
          </p:cNvPr>
          <p:cNvPicPr>
            <a:picLocks noChangeAspect="1"/>
          </p:cNvPicPr>
          <p:nvPr/>
        </p:nvPicPr>
        <p:blipFill>
          <a:blip r:embed="rId5"/>
          <a:stretch>
            <a:fillRect/>
          </a:stretch>
        </p:blipFill>
        <p:spPr>
          <a:xfrm>
            <a:off x="9028734" y="908121"/>
            <a:ext cx="2201774" cy="4892830"/>
          </a:xfrm>
          <a:prstGeom prst="rect">
            <a:avLst/>
          </a:prstGeom>
        </p:spPr>
      </p:pic>
    </p:spTree>
    <p:extLst>
      <p:ext uri="{BB962C8B-B14F-4D97-AF65-F5344CB8AC3E}">
        <p14:creationId xmlns:p14="http://schemas.microsoft.com/office/powerpoint/2010/main" val="3905286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885306" y="288175"/>
            <a:ext cx="10671048" cy="768096"/>
          </a:xfrm>
        </p:spPr>
        <p:txBody>
          <a:bodyPr/>
          <a:lstStyle/>
          <a:p>
            <a:r>
              <a:rPr lang="en-US" altLang="zh-CN" sz="4400" b="1" dirty="0">
                <a:solidFill>
                  <a:schemeClr val="accent6"/>
                </a:solidFill>
                <a:latin typeface="Arial Black" panose="020B0604020202020204" pitchFamily="34" charset="0"/>
                <a:cs typeface="Arial Black" panose="020B0604020202020204" pitchFamily="34" charset="0"/>
              </a:rPr>
              <a:t>TRACKING THE PROGRESSION</a:t>
            </a:r>
            <a:endParaRPr lang="en-US" sz="4400" b="1" dirty="0">
              <a:solidFill>
                <a:schemeClr val="accent6"/>
              </a:solidFill>
              <a:latin typeface="Arial Black" panose="020B0604020202020204" pitchFamily="34" charset="0"/>
              <a:cs typeface="Arial Black" panose="020B0604020202020204" pitchFamily="34" charset="0"/>
            </a:endParaRPr>
          </a:p>
        </p:txBody>
      </p:sp>
      <p:graphicFrame>
        <p:nvGraphicFramePr>
          <p:cNvPr id="6" name="Table 4">
            <a:extLst>
              <a:ext uri="{FF2B5EF4-FFF2-40B4-BE49-F238E27FC236}">
                <a16:creationId xmlns:a16="http://schemas.microsoft.com/office/drawing/2014/main" id="{705AB9BF-07E9-9DED-DB8B-F644759C8FDC}"/>
              </a:ext>
            </a:extLst>
          </p:cNvPr>
          <p:cNvGraphicFramePr>
            <a:graphicFrameLocks noGrp="1"/>
          </p:cNvGraphicFramePr>
          <p:nvPr>
            <p:ph sz="half" idx="1"/>
            <p:extLst>
              <p:ext uri="{D42A27DB-BD31-4B8C-83A1-F6EECF244321}">
                <p14:modId xmlns:p14="http://schemas.microsoft.com/office/powerpoint/2010/main" val="1199353267"/>
              </p:ext>
            </p:extLst>
          </p:nvPr>
        </p:nvGraphicFramePr>
        <p:xfrm>
          <a:off x="451173" y="1183056"/>
          <a:ext cx="11289654" cy="2650151"/>
        </p:xfrm>
        <a:graphic>
          <a:graphicData uri="http://schemas.openxmlformats.org/drawingml/2006/table">
            <a:tbl>
              <a:tblPr firstRow="1" bandRow="1">
                <a:tableStyleId>{5C22544A-7EE6-4342-B048-85BDC9FD1C3A}</a:tableStyleId>
              </a:tblPr>
              <a:tblGrid>
                <a:gridCol w="5644827">
                  <a:extLst>
                    <a:ext uri="{9D8B030D-6E8A-4147-A177-3AD203B41FA5}">
                      <a16:colId xmlns:a16="http://schemas.microsoft.com/office/drawing/2014/main" val="1689330750"/>
                    </a:ext>
                  </a:extLst>
                </a:gridCol>
                <a:gridCol w="5644827">
                  <a:extLst>
                    <a:ext uri="{9D8B030D-6E8A-4147-A177-3AD203B41FA5}">
                      <a16:colId xmlns:a16="http://schemas.microsoft.com/office/drawing/2014/main" val="2660631934"/>
                    </a:ext>
                  </a:extLst>
                </a:gridCol>
              </a:tblGrid>
              <a:tr h="743894">
                <a:tc>
                  <a:txBody>
                    <a:bodyPr/>
                    <a:lstStyle/>
                    <a:p>
                      <a:pPr algn="ctr"/>
                      <a:r>
                        <a:rPr lang="en-US" sz="1900" dirty="0">
                          <a:latin typeface="Sabon Next LT" panose="02000500000000000000" pitchFamily="2" charset="0"/>
                          <a:cs typeface="Sabon Next LT" panose="02000500000000000000" pitchFamily="2" charset="0"/>
                        </a:rPr>
                        <a:t>RING STAGE</a:t>
                      </a:r>
                    </a:p>
                  </a:txBody>
                  <a:tcPr marL="96897" marR="96897" marT="48449" marB="48449" anchor="ctr">
                    <a:solidFill>
                      <a:schemeClr val="accent2"/>
                    </a:solidFill>
                  </a:tcPr>
                </a:tc>
                <a:tc>
                  <a:txBody>
                    <a:bodyPr/>
                    <a:lstStyle/>
                    <a:p>
                      <a:pPr algn="ctr"/>
                      <a:r>
                        <a:rPr lang="en-US" sz="1900" b="1" kern="1200" dirty="0">
                          <a:solidFill>
                            <a:schemeClr val="bg1">
                              <a:alpha val="99000"/>
                            </a:schemeClr>
                          </a:solidFill>
                          <a:latin typeface="Sabon Next LT" panose="02000500000000000000" pitchFamily="2" charset="0"/>
                          <a:ea typeface="+mn-ea"/>
                          <a:cs typeface="Sabon Next LT" panose="02000500000000000000" pitchFamily="2" charset="0"/>
                        </a:rPr>
                        <a:t>SCHIZONT ADVANCED STAGE</a:t>
                      </a:r>
                    </a:p>
                  </a:txBody>
                  <a:tcPr marL="96897" marR="96897" marT="48449" marB="48449" anchor="ctr">
                    <a:solidFill>
                      <a:srgbClr val="DF8C8C"/>
                    </a:solidFill>
                  </a:tcPr>
                </a:tc>
                <a:extLst>
                  <a:ext uri="{0D108BD9-81ED-4DB2-BD59-A6C34878D82A}">
                    <a16:rowId xmlns:a16="http://schemas.microsoft.com/office/drawing/2014/main" val="479928716"/>
                  </a:ext>
                </a:extLst>
              </a:tr>
              <a:tr h="1906257">
                <a:tc>
                  <a:txBody>
                    <a:bodyPr/>
                    <a:lstStyle/>
                    <a:p>
                      <a:pPr algn="ctr"/>
                      <a:endParaRPr lang="en-US" sz="1900" dirty="0">
                        <a:solidFill>
                          <a:schemeClr val="tx1"/>
                        </a:solidFill>
                        <a:latin typeface="Sabon Next LT" panose="02000500000000000000" pitchFamily="2" charset="0"/>
                        <a:cs typeface="Sabon Next LT" panose="02000500000000000000" pitchFamily="2" charset="0"/>
                      </a:endParaRPr>
                    </a:p>
                  </a:txBody>
                  <a:tcPr marL="96897" marR="96897" marT="48449" marB="48449" anchor="ctr">
                    <a:solidFill>
                      <a:schemeClr val="accent2">
                        <a:lumMod val="40000"/>
                        <a:lumOff val="60000"/>
                      </a:schemeClr>
                    </a:solidFill>
                  </a:tcPr>
                </a:tc>
                <a:tc>
                  <a:txBody>
                    <a:bodyPr/>
                    <a:lstStyle/>
                    <a:p>
                      <a:pPr algn="ctr"/>
                      <a:endParaRPr lang="en-US" sz="1900" dirty="0">
                        <a:solidFill>
                          <a:schemeClr val="tx1"/>
                        </a:solidFill>
                        <a:latin typeface="Sabon Next LT" panose="02000500000000000000" pitchFamily="2" charset="0"/>
                        <a:cs typeface="Sabon Next LT" panose="02000500000000000000" pitchFamily="2" charset="0"/>
                      </a:endParaRPr>
                    </a:p>
                  </a:txBody>
                  <a:tcPr marL="96897" marR="96897" marT="48449" marB="48449" anchor="ctr">
                    <a:solidFill>
                      <a:schemeClr val="accent2">
                        <a:lumMod val="40000"/>
                        <a:lumOff val="60000"/>
                      </a:schemeClr>
                    </a:solidFill>
                  </a:tcPr>
                </a:tc>
                <a:extLst>
                  <a:ext uri="{0D108BD9-81ED-4DB2-BD59-A6C34878D82A}">
                    <a16:rowId xmlns:a16="http://schemas.microsoft.com/office/drawing/2014/main" val="415808797"/>
                  </a:ext>
                </a:extLst>
              </a:tr>
            </a:tbl>
          </a:graphicData>
        </a:graphic>
      </p:graphicFrame>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a:xfrm>
            <a:off x="635646" y="13855"/>
            <a:ext cx="5044718" cy="260465"/>
          </a:xfrm>
        </p:spPr>
        <p:txBody>
          <a:bodyPr/>
          <a:lstStyle/>
          <a:p>
            <a:r>
              <a:rPr lang="en-US" dirty="0"/>
              <a:t>Detection of Malaria in Blood Cell Using Convolution Neural Network</a:t>
            </a:r>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a:xfrm>
            <a:off x="10937748" y="0"/>
            <a:ext cx="987552" cy="274320"/>
          </a:xfrm>
        </p:spPr>
        <p:txBody>
          <a:bodyPr/>
          <a:lstStyle/>
          <a:p>
            <a:fld id="{48F63A3B-78C7-47BE-AE5E-E10140E04643}" type="slidenum">
              <a:rPr lang="en-US" smtClean="0"/>
              <a:t>11</a:t>
            </a:fld>
            <a:endParaRPr lang="en-US" dirty="0"/>
          </a:p>
        </p:txBody>
      </p:sp>
      <p:sp>
        <p:nvSpPr>
          <p:cNvPr id="4" name="TextBox 3">
            <a:extLst>
              <a:ext uri="{FF2B5EF4-FFF2-40B4-BE49-F238E27FC236}">
                <a16:creationId xmlns:a16="http://schemas.microsoft.com/office/drawing/2014/main" id="{9B365BBD-2B90-7E4E-2E9E-A53AA807C555}"/>
              </a:ext>
            </a:extLst>
          </p:cNvPr>
          <p:cNvSpPr txBox="1"/>
          <p:nvPr/>
        </p:nvSpPr>
        <p:spPr>
          <a:xfrm>
            <a:off x="731278" y="5079988"/>
            <a:ext cx="11289654"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000000"/>
                </a:solidFill>
                <a:effectLst/>
                <a:latin typeface="Helvetica" pitchFamily="2" charset="0"/>
              </a:rPr>
              <a:t>Our model can detect if the blood sample is infected or not. </a:t>
            </a:r>
          </a:p>
          <a:p>
            <a:pPr marL="285750" indent="-285750">
              <a:buFont typeface="Arial" panose="020B0604020202020204" pitchFamily="34" charset="0"/>
              <a:buChar char="•"/>
            </a:pPr>
            <a:r>
              <a:rPr lang="en-US" dirty="0">
                <a:solidFill>
                  <a:srgbClr val="000000"/>
                </a:solidFill>
                <a:latin typeface="Helvetica" pitchFamily="2" charset="0"/>
              </a:rPr>
              <a:t>U</a:t>
            </a:r>
            <a:r>
              <a:rPr lang="en-US" dirty="0">
                <a:solidFill>
                  <a:srgbClr val="000000"/>
                </a:solidFill>
                <a:effectLst/>
                <a:latin typeface="Helvetica" pitchFamily="2" charset="0"/>
              </a:rPr>
              <a:t>sing advance image processing techniques and self developed formulas, we can track and find out the different stages of infection.</a:t>
            </a:r>
          </a:p>
        </p:txBody>
      </p:sp>
      <p:pic>
        <p:nvPicPr>
          <p:cNvPr id="5" name="Picture 4">
            <a:extLst>
              <a:ext uri="{FF2B5EF4-FFF2-40B4-BE49-F238E27FC236}">
                <a16:creationId xmlns:a16="http://schemas.microsoft.com/office/drawing/2014/main" id="{CA424F6D-4E52-4317-3FA7-3B5A39468FFB}"/>
              </a:ext>
            </a:extLst>
          </p:cNvPr>
          <p:cNvPicPr>
            <a:picLocks noChangeAspect="1"/>
          </p:cNvPicPr>
          <p:nvPr/>
        </p:nvPicPr>
        <p:blipFill>
          <a:blip r:embed="rId2"/>
          <a:stretch>
            <a:fillRect/>
          </a:stretch>
        </p:blipFill>
        <p:spPr>
          <a:xfrm>
            <a:off x="885306" y="2039589"/>
            <a:ext cx="4795058" cy="1698579"/>
          </a:xfrm>
          <a:prstGeom prst="rect">
            <a:avLst/>
          </a:prstGeom>
        </p:spPr>
      </p:pic>
      <p:pic>
        <p:nvPicPr>
          <p:cNvPr id="9" name="Picture 8">
            <a:extLst>
              <a:ext uri="{FF2B5EF4-FFF2-40B4-BE49-F238E27FC236}">
                <a16:creationId xmlns:a16="http://schemas.microsoft.com/office/drawing/2014/main" id="{0C4ACB8B-A291-2077-5D11-1B4111342B2E}"/>
              </a:ext>
            </a:extLst>
          </p:cNvPr>
          <p:cNvPicPr>
            <a:picLocks noChangeAspect="1"/>
          </p:cNvPicPr>
          <p:nvPr/>
        </p:nvPicPr>
        <p:blipFill>
          <a:blip r:embed="rId3"/>
          <a:stretch>
            <a:fillRect/>
          </a:stretch>
        </p:blipFill>
        <p:spPr>
          <a:xfrm>
            <a:off x="6376105" y="2062669"/>
            <a:ext cx="4668980" cy="1652417"/>
          </a:xfrm>
          <a:prstGeom prst="rect">
            <a:avLst/>
          </a:prstGeom>
        </p:spPr>
      </p:pic>
      <p:sp>
        <p:nvSpPr>
          <p:cNvPr id="3" name="Text Placeholder 8">
            <a:extLst>
              <a:ext uri="{FF2B5EF4-FFF2-40B4-BE49-F238E27FC236}">
                <a16:creationId xmlns:a16="http://schemas.microsoft.com/office/drawing/2014/main" id="{1B27A5C3-503B-F90B-3830-9A90ADDEC93D}"/>
              </a:ext>
            </a:extLst>
          </p:cNvPr>
          <p:cNvSpPr txBox="1">
            <a:spLocks/>
          </p:cNvSpPr>
          <p:nvPr/>
        </p:nvSpPr>
        <p:spPr>
          <a:xfrm>
            <a:off x="2267851" y="4046999"/>
            <a:ext cx="2029968" cy="694944"/>
          </a:xfrm>
          <a:prstGeom prst="rect">
            <a:avLst/>
          </a:prstGeom>
          <a:solidFill>
            <a:schemeClr val="accent1"/>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Initial Stage of the infection</a:t>
            </a:r>
          </a:p>
        </p:txBody>
      </p:sp>
      <p:sp>
        <p:nvSpPr>
          <p:cNvPr id="10" name="Text Placeholder 8">
            <a:extLst>
              <a:ext uri="{FF2B5EF4-FFF2-40B4-BE49-F238E27FC236}">
                <a16:creationId xmlns:a16="http://schemas.microsoft.com/office/drawing/2014/main" id="{6AD4E341-C07F-3A25-0CC3-5D8B4D04D85C}"/>
              </a:ext>
            </a:extLst>
          </p:cNvPr>
          <p:cNvSpPr txBox="1">
            <a:spLocks/>
          </p:cNvSpPr>
          <p:nvPr/>
        </p:nvSpPr>
        <p:spPr>
          <a:xfrm>
            <a:off x="7894183" y="4046999"/>
            <a:ext cx="2029968" cy="694944"/>
          </a:xfrm>
          <a:prstGeom prst="rect">
            <a:avLst/>
          </a:prstGeom>
          <a:solidFill>
            <a:schemeClr val="accent1"/>
          </a:solidFill>
        </p:spPr>
        <p:txBody>
          <a:bodyPr vert="horz" lIns="0" tIns="155448" rIns="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400" b="1" kern="1200" cap="all" spc="20" baseline="0">
                <a:solidFill>
                  <a:schemeClr val="accent6"/>
                </a:solidFill>
                <a:latin typeface="Arial" panose="020B0604020202020204" pitchFamily="34" charset="0"/>
                <a:ea typeface="+mn-ea"/>
                <a:cs typeface="Arial" panose="020B0604020202020204" pitchFamily="34" charset="0"/>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Final Stage of the infection</a:t>
            </a:r>
          </a:p>
        </p:txBody>
      </p:sp>
    </p:spTree>
    <p:extLst>
      <p:ext uri="{BB962C8B-B14F-4D97-AF65-F5344CB8AC3E}">
        <p14:creationId xmlns:p14="http://schemas.microsoft.com/office/powerpoint/2010/main" val="28864747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C09F16-6D23-666F-6800-8FC697831948}"/>
              </a:ext>
            </a:extLst>
          </p:cNvPr>
          <p:cNvSpPr>
            <a:spLocks noGrp="1"/>
          </p:cNvSpPr>
          <p:nvPr>
            <p:ph type="title"/>
          </p:nvPr>
        </p:nvSpPr>
        <p:spPr>
          <a:xfrm>
            <a:off x="939065" y="507880"/>
            <a:ext cx="10671048" cy="768096"/>
          </a:xfrm>
        </p:spPr>
        <p:txBody>
          <a:bodyPr/>
          <a:lstStyle/>
          <a:p>
            <a:r>
              <a:rPr lang="en-US" sz="3300" dirty="0"/>
              <a:t>TRACKING THE PROGRESSION</a:t>
            </a:r>
          </a:p>
        </p:txBody>
      </p:sp>
      <p:sp>
        <p:nvSpPr>
          <p:cNvPr id="74" name="Slide Number Placeholder 73">
            <a:extLst>
              <a:ext uri="{FF2B5EF4-FFF2-40B4-BE49-F238E27FC236}">
                <a16:creationId xmlns:a16="http://schemas.microsoft.com/office/drawing/2014/main" id="{B964C6B0-844C-A964-2B74-46CF893E1381}"/>
              </a:ext>
            </a:extLst>
          </p:cNvPr>
          <p:cNvSpPr>
            <a:spLocks noGrp="1"/>
          </p:cNvSpPr>
          <p:nvPr>
            <p:ph type="sldNum" sz="quarter" idx="12"/>
          </p:nvPr>
        </p:nvSpPr>
        <p:spPr>
          <a:xfrm>
            <a:off x="10936177" y="99852"/>
            <a:ext cx="987552" cy="274320"/>
          </a:xfrm>
        </p:spPr>
        <p:txBody>
          <a:bodyPr/>
          <a:lstStyle/>
          <a:p>
            <a:fld id="{48F63A3B-78C7-47BE-AE5E-E10140E04643}" type="slidenum">
              <a:rPr lang="en-US" smtClean="0"/>
              <a:pPr/>
              <a:t>12</a:t>
            </a:fld>
            <a:endParaRPr lang="en-US" dirty="0"/>
          </a:p>
        </p:txBody>
      </p:sp>
      <p:sp>
        <p:nvSpPr>
          <p:cNvPr id="37" name="Footer Placeholder 13">
            <a:extLst>
              <a:ext uri="{FF2B5EF4-FFF2-40B4-BE49-F238E27FC236}">
                <a16:creationId xmlns:a16="http://schemas.microsoft.com/office/drawing/2014/main" id="{539F614F-8B1B-8115-A2B5-8FFEEAF0C033}"/>
              </a:ext>
            </a:extLst>
          </p:cNvPr>
          <p:cNvSpPr txBox="1">
            <a:spLocks/>
          </p:cNvSpPr>
          <p:nvPr/>
        </p:nvSpPr>
        <p:spPr>
          <a:xfrm>
            <a:off x="139002" y="99852"/>
            <a:ext cx="8538079" cy="274320"/>
          </a:xfrm>
          <a:prstGeom prst="rect">
            <a:avLst/>
          </a:prstGeom>
        </p:spPr>
        <p:txBody>
          <a:bodyPr vert="horz" lIns="91440" tIns="45720" rIns="91440" bIns="45720" rtlCol="0" anchor="ctr">
            <a:noAutofit/>
          </a:bodyPr>
          <a:lstStyle>
            <a:defPPr>
              <a:defRPr lang="en-US"/>
            </a:defPPr>
            <a:lvl1pPr marL="0" algn="l" defTabSz="457200" rtl="0" eaLnBrk="1" latinLnBrk="0" hangingPunct="1">
              <a:defRPr sz="1200" kern="1200">
                <a:solidFill>
                  <a:schemeClr val="accent6"/>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Detection of Malaria in Blood Cell Using Convolution Neural Network</a:t>
            </a:r>
          </a:p>
        </p:txBody>
      </p:sp>
      <p:sp>
        <p:nvSpPr>
          <p:cNvPr id="3" name="TextBox 2">
            <a:extLst>
              <a:ext uri="{FF2B5EF4-FFF2-40B4-BE49-F238E27FC236}">
                <a16:creationId xmlns:a16="http://schemas.microsoft.com/office/drawing/2014/main" id="{22DF0B76-3642-E496-77B5-42C000404319}"/>
              </a:ext>
            </a:extLst>
          </p:cNvPr>
          <p:cNvSpPr txBox="1"/>
          <p:nvPr/>
        </p:nvSpPr>
        <p:spPr>
          <a:xfrm>
            <a:off x="469532" y="1275976"/>
            <a:ext cx="11610113"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000000"/>
                </a:solidFill>
                <a:effectLst/>
                <a:latin typeface="Helvetica" pitchFamily="2" charset="0"/>
              </a:rPr>
              <a:t>100 samples were taken as test sample images among which 57 belong to initial ring state and the remaining 43 belong to schizont stage, the results can be observed in the following table:</a:t>
            </a:r>
          </a:p>
        </p:txBody>
      </p:sp>
      <p:graphicFrame>
        <p:nvGraphicFramePr>
          <p:cNvPr id="8" name="Table 7">
            <a:extLst>
              <a:ext uri="{FF2B5EF4-FFF2-40B4-BE49-F238E27FC236}">
                <a16:creationId xmlns:a16="http://schemas.microsoft.com/office/drawing/2014/main" id="{68325B05-2EE0-3299-34E4-194AE5E53781}"/>
              </a:ext>
            </a:extLst>
          </p:cNvPr>
          <p:cNvGraphicFramePr>
            <a:graphicFrameLocks noGrp="1"/>
          </p:cNvGraphicFramePr>
          <p:nvPr>
            <p:extLst>
              <p:ext uri="{D42A27DB-BD31-4B8C-83A1-F6EECF244321}">
                <p14:modId xmlns:p14="http://schemas.microsoft.com/office/powerpoint/2010/main" val="877457458"/>
              </p:ext>
            </p:extLst>
          </p:nvPr>
        </p:nvGraphicFramePr>
        <p:xfrm>
          <a:off x="290943" y="2044072"/>
          <a:ext cx="11610114" cy="2975136"/>
        </p:xfrm>
        <a:graphic>
          <a:graphicData uri="http://schemas.openxmlformats.org/drawingml/2006/table">
            <a:tbl>
              <a:tblPr firstRow="1" bandRow="1">
                <a:tableStyleId>{5C22544A-7EE6-4342-B048-85BDC9FD1C3A}</a:tableStyleId>
              </a:tblPr>
              <a:tblGrid>
                <a:gridCol w="3205439">
                  <a:extLst>
                    <a:ext uri="{9D8B030D-6E8A-4147-A177-3AD203B41FA5}">
                      <a16:colId xmlns:a16="http://schemas.microsoft.com/office/drawing/2014/main" val="1642337516"/>
                    </a:ext>
                  </a:extLst>
                </a:gridCol>
                <a:gridCol w="4534637">
                  <a:extLst>
                    <a:ext uri="{9D8B030D-6E8A-4147-A177-3AD203B41FA5}">
                      <a16:colId xmlns:a16="http://schemas.microsoft.com/office/drawing/2014/main" val="2925105196"/>
                    </a:ext>
                  </a:extLst>
                </a:gridCol>
                <a:gridCol w="3870038">
                  <a:extLst>
                    <a:ext uri="{9D8B030D-6E8A-4147-A177-3AD203B41FA5}">
                      <a16:colId xmlns:a16="http://schemas.microsoft.com/office/drawing/2014/main" val="2133723851"/>
                    </a:ext>
                  </a:extLst>
                </a:gridCol>
              </a:tblGrid>
              <a:tr h="565419">
                <a:tc>
                  <a:txBody>
                    <a:bodyPr/>
                    <a:lstStyle/>
                    <a:p>
                      <a:pPr algn="ctr"/>
                      <a:r>
                        <a:rPr lang="en-US" dirty="0">
                          <a:solidFill>
                            <a:schemeClr val="tx1"/>
                          </a:solidFill>
                        </a:rPr>
                        <a:t>BLOOD SAMPLE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AVERAGE AREA OF BLOOD SAMPLE</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AVERAGE AREA OF PARASITE</a:t>
                      </a:r>
                    </a:p>
                    <a:p>
                      <a:pPr algn="ctr"/>
                      <a:endParaRPr lang="en-US" dirty="0"/>
                    </a:p>
                  </a:txBody>
                  <a:tcPr/>
                </a:tc>
                <a:extLst>
                  <a:ext uri="{0D108BD9-81ED-4DB2-BD59-A6C34878D82A}">
                    <a16:rowId xmlns:a16="http://schemas.microsoft.com/office/drawing/2014/main" val="336704956"/>
                  </a:ext>
                </a:extLst>
              </a:tr>
              <a:tr h="11675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PARASITE IN INITIAL STAGE</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11786</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444.167</a:t>
                      </a:r>
                    </a:p>
                    <a:p>
                      <a:pPr algn="ctr"/>
                      <a:endParaRPr lang="en-US" dirty="0"/>
                    </a:p>
                  </a:txBody>
                  <a:tcPr/>
                </a:tc>
                <a:extLst>
                  <a:ext uri="{0D108BD9-81ED-4DB2-BD59-A6C34878D82A}">
                    <a16:rowId xmlns:a16="http://schemas.microsoft.com/office/drawing/2014/main" val="588719997"/>
                  </a:ext>
                </a:extLst>
              </a:tr>
              <a:tr h="11675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PARASITE IN SCHIZONT STAGE</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17617.2</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1409</a:t>
                      </a:r>
                    </a:p>
                    <a:p>
                      <a:pPr algn="ctr"/>
                      <a:endParaRPr lang="en-US" dirty="0"/>
                    </a:p>
                  </a:txBody>
                  <a:tcPr/>
                </a:tc>
                <a:extLst>
                  <a:ext uri="{0D108BD9-81ED-4DB2-BD59-A6C34878D82A}">
                    <a16:rowId xmlns:a16="http://schemas.microsoft.com/office/drawing/2014/main" val="3745078958"/>
                  </a:ext>
                </a:extLst>
              </a:tr>
            </a:tbl>
          </a:graphicData>
        </a:graphic>
      </p:graphicFrame>
      <p:sp>
        <p:nvSpPr>
          <p:cNvPr id="10" name="TextBox 9">
            <a:extLst>
              <a:ext uri="{FF2B5EF4-FFF2-40B4-BE49-F238E27FC236}">
                <a16:creationId xmlns:a16="http://schemas.microsoft.com/office/drawing/2014/main" id="{E6248F19-0EE7-32E4-20DF-66CE2671A9EA}"/>
              </a:ext>
            </a:extLst>
          </p:cNvPr>
          <p:cNvSpPr txBox="1"/>
          <p:nvPr/>
        </p:nvSpPr>
        <p:spPr>
          <a:xfrm>
            <a:off x="290943" y="5149791"/>
            <a:ext cx="11454197"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000000"/>
                </a:solidFill>
                <a:effectLst/>
                <a:latin typeface="Helvetica" pitchFamily="2" charset="0"/>
              </a:rPr>
              <a:t>So, according to these test cases we concluded that if the area of the parasite is greater than 8% of the total area of the blood sample it’s in the advanced schizont stage else it is in the initial ring stage.</a:t>
            </a:r>
          </a:p>
          <a:p>
            <a:endParaRPr lang="en-US" dirty="0">
              <a:solidFill>
                <a:srgbClr val="000000"/>
              </a:solidFill>
              <a:effectLst/>
              <a:latin typeface="Helvetica" pitchFamily="2" charset="0"/>
            </a:endParaRPr>
          </a:p>
          <a:p>
            <a:pPr algn="ctr"/>
            <a:r>
              <a:rPr lang="en-US" i="1" dirty="0">
                <a:solidFill>
                  <a:srgbClr val="000000"/>
                </a:solidFill>
                <a:latin typeface="Helvetica" pitchFamily="2" charset="0"/>
              </a:rPr>
              <a:t>*Images were manually annotated, and the findings are based on our research.</a:t>
            </a:r>
            <a:endParaRPr lang="en-US" i="1" dirty="0">
              <a:solidFill>
                <a:srgbClr val="000000"/>
              </a:solidFill>
              <a:effectLst/>
              <a:latin typeface="Helvetica" pitchFamily="2" charset="0"/>
            </a:endParaRPr>
          </a:p>
        </p:txBody>
      </p:sp>
    </p:spTree>
    <p:extLst>
      <p:ext uri="{BB962C8B-B14F-4D97-AF65-F5344CB8AC3E}">
        <p14:creationId xmlns:p14="http://schemas.microsoft.com/office/powerpoint/2010/main" val="11481257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3ED41-E220-24B2-3EB6-DEE0F66F843F}"/>
              </a:ext>
            </a:extLst>
          </p:cNvPr>
          <p:cNvSpPr>
            <a:spLocks noGrp="1"/>
          </p:cNvSpPr>
          <p:nvPr>
            <p:ph type="title"/>
          </p:nvPr>
        </p:nvSpPr>
        <p:spPr>
          <a:xfrm>
            <a:off x="749808" y="100584"/>
            <a:ext cx="10671048" cy="768096"/>
          </a:xfrm>
        </p:spPr>
        <p:txBody>
          <a:bodyPr/>
          <a:lstStyle/>
          <a:p>
            <a:r>
              <a:rPr lang="en-US" dirty="0"/>
              <a:t>why Our approach?</a:t>
            </a:r>
          </a:p>
        </p:txBody>
      </p:sp>
      <p:sp>
        <p:nvSpPr>
          <p:cNvPr id="4" name="Slide Number Placeholder 3">
            <a:extLst>
              <a:ext uri="{FF2B5EF4-FFF2-40B4-BE49-F238E27FC236}">
                <a16:creationId xmlns:a16="http://schemas.microsoft.com/office/drawing/2014/main" id="{C2C1AEF7-CCB3-630A-8238-8EB24C714387}"/>
              </a:ext>
            </a:extLst>
          </p:cNvPr>
          <p:cNvSpPr>
            <a:spLocks noGrp="1"/>
          </p:cNvSpPr>
          <p:nvPr>
            <p:ph type="sldNum" sz="quarter" idx="12"/>
          </p:nvPr>
        </p:nvSpPr>
        <p:spPr/>
        <p:txBody>
          <a:bodyPr/>
          <a:lstStyle/>
          <a:p>
            <a:fld id="{48F63A3B-78C7-47BE-AE5E-E10140E04643}" type="slidenum">
              <a:rPr lang="en-US" smtClean="0"/>
              <a:pPr/>
              <a:t>13</a:t>
            </a:fld>
            <a:endParaRPr lang="en-US" dirty="0"/>
          </a:p>
        </p:txBody>
      </p:sp>
      <p:sp>
        <p:nvSpPr>
          <p:cNvPr id="5" name="Text Placeholder 4">
            <a:extLst>
              <a:ext uri="{FF2B5EF4-FFF2-40B4-BE49-F238E27FC236}">
                <a16:creationId xmlns:a16="http://schemas.microsoft.com/office/drawing/2014/main" id="{245553C4-7BA2-3E71-53A8-FE3FF7CB2F02}"/>
              </a:ext>
            </a:extLst>
          </p:cNvPr>
          <p:cNvSpPr>
            <a:spLocks noGrp="1"/>
          </p:cNvSpPr>
          <p:nvPr>
            <p:ph type="body" idx="1"/>
          </p:nvPr>
        </p:nvSpPr>
        <p:spPr>
          <a:xfrm>
            <a:off x="59226" y="1732788"/>
            <a:ext cx="3819091" cy="4932135"/>
          </a:xfrm>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DNA diagnostic machine</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dirty="0"/>
          </a:p>
        </p:txBody>
      </p:sp>
      <p:sp>
        <p:nvSpPr>
          <p:cNvPr id="7" name="Text Placeholder 6">
            <a:extLst>
              <a:ext uri="{FF2B5EF4-FFF2-40B4-BE49-F238E27FC236}">
                <a16:creationId xmlns:a16="http://schemas.microsoft.com/office/drawing/2014/main" id="{B5585083-EF8C-0D6B-8695-70501DFCE8BC}"/>
              </a:ext>
            </a:extLst>
          </p:cNvPr>
          <p:cNvSpPr>
            <a:spLocks noGrp="1"/>
          </p:cNvSpPr>
          <p:nvPr>
            <p:ph type="body" sz="quarter" idx="18"/>
          </p:nvPr>
        </p:nvSpPr>
        <p:spPr>
          <a:xfrm>
            <a:off x="379897" y="2857101"/>
            <a:ext cx="3584027" cy="2206752"/>
          </a:xfrm>
        </p:spPr>
        <p:txBody>
          <a:bodyPr/>
          <a:lstStyle/>
          <a:p>
            <a:r>
              <a:rPr lang="en-US" sz="1400" dirty="0"/>
              <a:t>More expensive </a:t>
            </a:r>
          </a:p>
          <a:p>
            <a:endParaRPr lang="en-US" sz="1400" dirty="0"/>
          </a:p>
          <a:p>
            <a:r>
              <a:rPr lang="en-US" sz="1400" dirty="0"/>
              <a:t>Needs external power source</a:t>
            </a:r>
          </a:p>
          <a:p>
            <a:pPr marL="0" indent="0">
              <a:buNone/>
            </a:pPr>
            <a:endParaRPr lang="en-US" sz="1400" dirty="0"/>
          </a:p>
          <a:p>
            <a:r>
              <a:rPr lang="en-US" sz="1400" dirty="0"/>
              <a:t>Bulky and around 500-600 grams in weight </a:t>
            </a:r>
          </a:p>
          <a:p>
            <a:endParaRPr lang="en-US" sz="1400" dirty="0"/>
          </a:p>
          <a:p>
            <a:r>
              <a:rPr lang="en-US" sz="1400" dirty="0"/>
              <a:t>A flaw could potentially arise in the device's accuracy and reliability in detecting nucleic acids, which could lead to incorrect diagnoses and potentially harmful treatment. </a:t>
            </a:r>
          </a:p>
          <a:p>
            <a:endParaRPr lang="en-US" sz="1400" dirty="0"/>
          </a:p>
          <a:p>
            <a:r>
              <a:rPr lang="en-US" sz="1400" dirty="0"/>
              <a:t>Requires training and proper guidance hence chances of human error.</a:t>
            </a:r>
          </a:p>
        </p:txBody>
      </p:sp>
      <p:sp>
        <p:nvSpPr>
          <p:cNvPr id="16" name="Text Placeholder 4">
            <a:extLst>
              <a:ext uri="{FF2B5EF4-FFF2-40B4-BE49-F238E27FC236}">
                <a16:creationId xmlns:a16="http://schemas.microsoft.com/office/drawing/2014/main" id="{E7418119-BA91-D1B7-21A3-6C8DFDEDD1AC}"/>
              </a:ext>
            </a:extLst>
          </p:cNvPr>
          <p:cNvSpPr txBox="1">
            <a:spLocks/>
          </p:cNvSpPr>
          <p:nvPr/>
        </p:nvSpPr>
        <p:spPr>
          <a:xfrm>
            <a:off x="4297718" y="1732787"/>
            <a:ext cx="3527973" cy="4932135"/>
          </a:xfrm>
          <a:prstGeom prst="rect">
            <a:avLst/>
          </a:prstGeom>
          <a:noFill/>
          <a:ln w="12700">
            <a:solidFill>
              <a:schemeClr val="accent3"/>
            </a:solidFill>
          </a:ln>
        </p:spPr>
        <p:txBody>
          <a:bodyPr vert="horz" lIns="91440" tIns="685800" rIns="9144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800" b="1" kern="1200" cap="all" spc="0" baseline="0">
                <a:solidFill>
                  <a:schemeClr val="accent6"/>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00000"/>
              </a:lnSpc>
              <a:spcBef>
                <a:spcPts val="360"/>
              </a:spcBef>
              <a:buFont typeface="Arial" panose="020B0604020202020204" pitchFamily="34" charset="0"/>
              <a:buNone/>
              <a:defRPr sz="2000" b="1" kern="1200">
                <a:solidFill>
                  <a:schemeClr val="accent6"/>
                </a:solidFill>
                <a:latin typeface="+mn-lt"/>
                <a:ea typeface="+mn-ea"/>
                <a:cs typeface="+mn-cs"/>
              </a:defRPr>
            </a:lvl2pPr>
            <a:lvl3pPr marL="914400" indent="0" algn="l" defTabSz="914400" rtl="0" eaLnBrk="1" latinLnBrk="0" hangingPunct="1">
              <a:lnSpc>
                <a:spcPct val="100000"/>
              </a:lnSpc>
              <a:spcBef>
                <a:spcPts val="360"/>
              </a:spcBef>
              <a:buFont typeface="Arial" panose="020B0604020202020204" pitchFamily="34" charset="0"/>
              <a:buNone/>
              <a:defRPr sz="1800" b="1" kern="1200">
                <a:solidFill>
                  <a:schemeClr val="accent6"/>
                </a:solidFill>
                <a:latin typeface="+mn-lt"/>
                <a:ea typeface="+mn-ea"/>
                <a:cs typeface="+mn-cs"/>
              </a:defRPr>
            </a:lvl3pPr>
            <a:lvl4pPr marL="1371600" indent="0" algn="l" defTabSz="914400" rtl="0" eaLnBrk="1" latinLnBrk="0" hangingPunct="1">
              <a:lnSpc>
                <a:spcPct val="100000"/>
              </a:lnSpc>
              <a:spcBef>
                <a:spcPts val="360"/>
              </a:spcBef>
              <a:buFont typeface="Arial" panose="020B0604020202020204" pitchFamily="34" charset="0"/>
              <a:buNone/>
              <a:defRPr sz="1600" b="1" kern="1200">
                <a:solidFill>
                  <a:schemeClr val="accent6"/>
                </a:solidFill>
                <a:latin typeface="+mn-lt"/>
                <a:ea typeface="+mn-ea"/>
                <a:cs typeface="+mn-cs"/>
              </a:defRPr>
            </a:lvl4pPr>
            <a:lvl5pPr marL="1828800" indent="0" algn="l" defTabSz="914400" rtl="0" eaLnBrk="1" latinLnBrk="0" hangingPunct="1">
              <a:lnSpc>
                <a:spcPct val="100000"/>
              </a:lnSpc>
              <a:spcBef>
                <a:spcPts val="360"/>
              </a:spcBef>
              <a:buFont typeface="Arial" panose="020B0604020202020204" pitchFamily="34" charset="0"/>
              <a:buNone/>
              <a:defRPr sz="1600" b="1" kern="1200">
                <a:solidFill>
                  <a:schemeClr val="accent6"/>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latin typeface="Calibri" panose="020F0502020204030204" pitchFamily="34" charset="0"/>
                <a:ea typeface="Calibri" panose="020F0502020204030204" pitchFamily="34" charset="0"/>
                <a:cs typeface="Times New Roman" panose="02020603050405020304" pitchFamily="18" charset="0"/>
              </a:rPr>
              <a:t>Electrochemical biosensors </a:t>
            </a:r>
            <a:endParaRPr lang="en-US" dirty="0"/>
          </a:p>
        </p:txBody>
      </p:sp>
      <p:sp>
        <p:nvSpPr>
          <p:cNvPr id="17" name="Text Placeholder 4">
            <a:extLst>
              <a:ext uri="{FF2B5EF4-FFF2-40B4-BE49-F238E27FC236}">
                <a16:creationId xmlns:a16="http://schemas.microsoft.com/office/drawing/2014/main" id="{8D529299-5A65-DF49-BE6B-FD4F6E5B0E57}"/>
              </a:ext>
            </a:extLst>
          </p:cNvPr>
          <p:cNvSpPr txBox="1">
            <a:spLocks/>
          </p:cNvSpPr>
          <p:nvPr/>
        </p:nvSpPr>
        <p:spPr>
          <a:xfrm>
            <a:off x="8283036" y="1732787"/>
            <a:ext cx="3819092" cy="4932134"/>
          </a:xfrm>
          <a:prstGeom prst="rect">
            <a:avLst/>
          </a:prstGeom>
          <a:noFill/>
          <a:ln w="12700">
            <a:solidFill>
              <a:schemeClr val="accent3"/>
            </a:solidFill>
          </a:ln>
        </p:spPr>
        <p:txBody>
          <a:bodyPr vert="horz" lIns="91440" tIns="685800" rIns="9144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1800" b="1" kern="1200" cap="all" spc="0" baseline="0">
                <a:solidFill>
                  <a:schemeClr val="accent6"/>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00000"/>
              </a:lnSpc>
              <a:spcBef>
                <a:spcPts val="360"/>
              </a:spcBef>
              <a:buFont typeface="Arial" panose="020B0604020202020204" pitchFamily="34" charset="0"/>
              <a:buNone/>
              <a:defRPr sz="2000" b="1" kern="1200">
                <a:solidFill>
                  <a:schemeClr val="accent6"/>
                </a:solidFill>
                <a:latin typeface="+mn-lt"/>
                <a:ea typeface="+mn-ea"/>
                <a:cs typeface="+mn-cs"/>
              </a:defRPr>
            </a:lvl2pPr>
            <a:lvl3pPr marL="914400" indent="0" algn="l" defTabSz="914400" rtl="0" eaLnBrk="1" latinLnBrk="0" hangingPunct="1">
              <a:lnSpc>
                <a:spcPct val="100000"/>
              </a:lnSpc>
              <a:spcBef>
                <a:spcPts val="360"/>
              </a:spcBef>
              <a:buFont typeface="Arial" panose="020B0604020202020204" pitchFamily="34" charset="0"/>
              <a:buNone/>
              <a:defRPr sz="1800" b="1" kern="1200">
                <a:solidFill>
                  <a:schemeClr val="accent6"/>
                </a:solidFill>
                <a:latin typeface="+mn-lt"/>
                <a:ea typeface="+mn-ea"/>
                <a:cs typeface="+mn-cs"/>
              </a:defRPr>
            </a:lvl3pPr>
            <a:lvl4pPr marL="1371600" indent="0" algn="l" defTabSz="914400" rtl="0" eaLnBrk="1" latinLnBrk="0" hangingPunct="1">
              <a:lnSpc>
                <a:spcPct val="100000"/>
              </a:lnSpc>
              <a:spcBef>
                <a:spcPts val="360"/>
              </a:spcBef>
              <a:buFont typeface="Arial" panose="020B0604020202020204" pitchFamily="34" charset="0"/>
              <a:buNone/>
              <a:defRPr sz="1600" b="1" kern="1200">
                <a:solidFill>
                  <a:schemeClr val="accent6"/>
                </a:solidFill>
                <a:latin typeface="+mn-lt"/>
                <a:ea typeface="+mn-ea"/>
                <a:cs typeface="+mn-cs"/>
              </a:defRPr>
            </a:lvl4pPr>
            <a:lvl5pPr marL="1828800" indent="0" algn="l" defTabSz="914400" rtl="0" eaLnBrk="1" latinLnBrk="0" hangingPunct="1">
              <a:lnSpc>
                <a:spcPct val="100000"/>
              </a:lnSpc>
              <a:spcBef>
                <a:spcPts val="360"/>
              </a:spcBef>
              <a:buFont typeface="Arial" panose="020B0604020202020204" pitchFamily="34" charset="0"/>
              <a:buNone/>
              <a:defRPr sz="1600" b="1" kern="1200">
                <a:solidFill>
                  <a:schemeClr val="accent6"/>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err="1">
                <a:latin typeface="Calibri" panose="020F0502020204030204" pitchFamily="34" charset="0"/>
                <a:ea typeface="Calibri" panose="020F0502020204030204" pitchFamily="34" charset="0"/>
                <a:cs typeface="Times New Roman" panose="02020603050405020304" pitchFamily="18" charset="0"/>
              </a:rPr>
              <a:t>Svm</a:t>
            </a:r>
            <a:r>
              <a:rPr lang="en-US" dirty="0">
                <a:latin typeface="Calibri" panose="020F0502020204030204" pitchFamily="34" charset="0"/>
                <a:ea typeface="Calibri" panose="020F0502020204030204" pitchFamily="34" charset="0"/>
                <a:cs typeface="Times New Roman" panose="02020603050405020304" pitchFamily="18" charset="0"/>
              </a:rPr>
              <a:t> and Traditional ML</a:t>
            </a:r>
            <a:endParaRPr lang="en-US" dirty="0"/>
          </a:p>
        </p:txBody>
      </p:sp>
      <p:pic>
        <p:nvPicPr>
          <p:cNvPr id="21" name="Picture 20" descr="A picture containing printer, design&#10;&#10;Description automatically generated">
            <a:extLst>
              <a:ext uri="{FF2B5EF4-FFF2-40B4-BE49-F238E27FC236}">
                <a16:creationId xmlns:a16="http://schemas.microsoft.com/office/drawing/2014/main" id="{65688DEB-2D3E-55FA-0EB8-89B8CE07814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1177158" y="1076837"/>
            <a:ext cx="1524000" cy="1524000"/>
          </a:xfrm>
          <a:prstGeom prst="rect">
            <a:avLst/>
          </a:prstGeom>
        </p:spPr>
      </p:pic>
      <p:pic>
        <p:nvPicPr>
          <p:cNvPr id="23" name="Picture 22">
            <a:extLst>
              <a:ext uri="{FF2B5EF4-FFF2-40B4-BE49-F238E27FC236}">
                <a16:creationId xmlns:a16="http://schemas.microsoft.com/office/drawing/2014/main" id="{E9DD8BC8-87F5-9FCE-DE07-B9BDFBBBE17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52143" y1="11932" x2="70357" y2="9659"/>
                        <a14:foregroundMark x1="20714" y1="52841" x2="12143" y2="68182"/>
                        <a14:foregroundMark x1="58571" y1="66477" x2="64286" y2="64773"/>
                        <a14:foregroundMark x1="61429" y1="69886" x2="61429" y2="75568"/>
                        <a14:foregroundMark x1="62143" y1="68182" x2="68214" y2="84091"/>
                        <a14:foregroundMark x1="80357" y1="43750" x2="80357" y2="43750"/>
                        <a14:foregroundMark x1="82143" y1="51705" x2="82143" y2="51705"/>
                        <a14:foregroundMark x1="80357" y1="47727" x2="83929" y2="49432"/>
                        <a14:foregroundMark x1="73214" y1="58523" x2="80357" y2="68750"/>
                        <a14:foregroundMark x1="21429" y1="66477" x2="22500" y2="68182"/>
                      </a14:backgroundRemoval>
                    </a14:imgEffect>
                  </a14:imgLayer>
                </a14:imgProps>
              </a:ext>
            </a:extLst>
          </a:blip>
          <a:stretch>
            <a:fillRect/>
          </a:stretch>
        </p:blipFill>
        <p:spPr>
          <a:xfrm>
            <a:off x="5120064" y="1307698"/>
            <a:ext cx="1778000" cy="1117600"/>
          </a:xfrm>
          <a:prstGeom prst="rect">
            <a:avLst/>
          </a:prstGeom>
        </p:spPr>
      </p:pic>
      <p:sp>
        <p:nvSpPr>
          <p:cNvPr id="24" name="Text Placeholder 6">
            <a:extLst>
              <a:ext uri="{FF2B5EF4-FFF2-40B4-BE49-F238E27FC236}">
                <a16:creationId xmlns:a16="http://schemas.microsoft.com/office/drawing/2014/main" id="{92F3D70E-B72C-3C57-3A49-F0AE54B73A20}"/>
              </a:ext>
            </a:extLst>
          </p:cNvPr>
          <p:cNvSpPr txBox="1">
            <a:spLocks/>
          </p:cNvSpPr>
          <p:nvPr/>
        </p:nvSpPr>
        <p:spPr>
          <a:xfrm>
            <a:off x="4335662" y="2857351"/>
            <a:ext cx="3346805" cy="2206752"/>
          </a:xfrm>
          <a:prstGeom prst="rect">
            <a:avLst/>
          </a:prstGeom>
          <a:noFill/>
        </p:spPr>
        <p:txBody>
          <a:bodyPr vert="horz" lIns="91440" tIns="45720" rIns="91440" bIns="45720" rtlCol="0" anchor="t">
            <a:noAutofit/>
          </a:bodyPr>
          <a:lstStyle>
            <a:lvl1pPr marL="347472" indent="-347472" algn="l" defTabSz="914400" rtl="0" eaLnBrk="1" latinLnBrk="0" hangingPunct="1">
              <a:lnSpc>
                <a:spcPct val="100000"/>
              </a:lnSpc>
              <a:spcBef>
                <a:spcPts val="360"/>
              </a:spcBef>
              <a:buFont typeface="Arial" panose="020B0604020202020204" pitchFamily="34" charset="0"/>
              <a:buChar char="•"/>
              <a:defRPr sz="15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Integrated electrochemical sensor and microfluidics</a:t>
            </a:r>
          </a:p>
          <a:p>
            <a:endParaRPr lang="en-US" sz="1400" dirty="0"/>
          </a:p>
          <a:p>
            <a:r>
              <a:rPr lang="en-US" sz="1400" dirty="0"/>
              <a:t>Highly complex and complicated system design</a:t>
            </a:r>
          </a:p>
          <a:p>
            <a:endParaRPr lang="en-US" sz="1400" dirty="0"/>
          </a:p>
          <a:p>
            <a:r>
              <a:rPr lang="en-US" sz="1400" dirty="0"/>
              <a:t>High cost</a:t>
            </a:r>
          </a:p>
          <a:p>
            <a:endParaRPr lang="en-US" sz="1400" dirty="0"/>
          </a:p>
          <a:p>
            <a:r>
              <a:rPr lang="en-US" sz="1400" dirty="0"/>
              <a:t>need to solve the poor signal stability and slow electrode kinetics.</a:t>
            </a:r>
          </a:p>
          <a:p>
            <a:endParaRPr lang="en-US" sz="1400" dirty="0"/>
          </a:p>
          <a:p>
            <a:r>
              <a:rPr lang="en-US" sz="1400" dirty="0"/>
              <a:t>Slow results and slower diagnosis of the disease </a:t>
            </a:r>
          </a:p>
          <a:p>
            <a:endParaRPr lang="en-US" sz="1400" dirty="0"/>
          </a:p>
        </p:txBody>
      </p:sp>
      <p:sp>
        <p:nvSpPr>
          <p:cNvPr id="27" name="Text Placeholder 6">
            <a:extLst>
              <a:ext uri="{FF2B5EF4-FFF2-40B4-BE49-F238E27FC236}">
                <a16:creationId xmlns:a16="http://schemas.microsoft.com/office/drawing/2014/main" id="{E0BA8C0C-03F4-583E-AD97-FB2F3165C50A}"/>
              </a:ext>
            </a:extLst>
          </p:cNvPr>
          <p:cNvSpPr txBox="1">
            <a:spLocks/>
          </p:cNvSpPr>
          <p:nvPr/>
        </p:nvSpPr>
        <p:spPr>
          <a:xfrm>
            <a:off x="8400568" y="2746102"/>
            <a:ext cx="3411535" cy="2206752"/>
          </a:xfrm>
          <a:prstGeom prst="rect">
            <a:avLst/>
          </a:prstGeom>
          <a:noFill/>
        </p:spPr>
        <p:txBody>
          <a:bodyPr vert="horz" lIns="91440" tIns="45720" rIns="91440" bIns="45720" rtlCol="0" anchor="t">
            <a:noAutofit/>
          </a:bodyPr>
          <a:lstStyle>
            <a:lvl1pPr marL="347472" indent="-347472" algn="l" defTabSz="914400" rtl="0" eaLnBrk="1" latinLnBrk="0" hangingPunct="1">
              <a:lnSpc>
                <a:spcPct val="100000"/>
              </a:lnSpc>
              <a:spcBef>
                <a:spcPts val="360"/>
              </a:spcBef>
              <a:buFont typeface="Arial" panose="020B0604020202020204" pitchFamily="34" charset="0"/>
              <a:buChar char="•"/>
              <a:defRPr sz="15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300" dirty="0"/>
              <a:t>SVM is less efficient than CNN and OpenCV.</a:t>
            </a:r>
          </a:p>
          <a:p>
            <a:endParaRPr lang="en-US" sz="1300" dirty="0"/>
          </a:p>
          <a:p>
            <a:r>
              <a:rPr lang="en-US" sz="1300" dirty="0"/>
              <a:t>Lesser image in each class </a:t>
            </a:r>
          </a:p>
          <a:p>
            <a:pPr marL="0" indent="0">
              <a:buNone/>
            </a:pPr>
            <a:endParaRPr lang="en-US" sz="1300" dirty="0"/>
          </a:p>
          <a:p>
            <a:r>
              <a:rPr lang="en-US" sz="1300" dirty="0"/>
              <a:t>Prototype alternative to microscope needs to be purchased or built.</a:t>
            </a:r>
          </a:p>
          <a:p>
            <a:endParaRPr lang="en-US" sz="1300" dirty="0"/>
          </a:p>
          <a:p>
            <a:r>
              <a:rPr lang="en-US" sz="1300" dirty="0"/>
              <a:t>They use Otsu threshold method whereas we use Confidence method.</a:t>
            </a:r>
          </a:p>
          <a:p>
            <a:endParaRPr lang="en-US" sz="1300" dirty="0"/>
          </a:p>
          <a:p>
            <a:r>
              <a:rPr lang="en-US" sz="1300" dirty="0"/>
              <a:t>The Otsu method finds a threshold that maximizes the variance between two classes of pixels, whereas the confidence method assigns a confidence value to each pixel representing the probability of belonging to the foreground class.</a:t>
            </a:r>
          </a:p>
          <a:p>
            <a:endParaRPr lang="en-US" sz="1300" dirty="0"/>
          </a:p>
          <a:p>
            <a:endParaRPr lang="en-US" sz="1300" dirty="0"/>
          </a:p>
          <a:p>
            <a:endParaRPr lang="en-US" sz="1300" dirty="0"/>
          </a:p>
          <a:p>
            <a:endParaRPr lang="en-US" sz="1300" dirty="0"/>
          </a:p>
          <a:p>
            <a:endParaRPr lang="en-US" sz="1300" dirty="0"/>
          </a:p>
          <a:p>
            <a:endParaRPr lang="en-US" sz="1300" dirty="0"/>
          </a:p>
          <a:p>
            <a:endParaRPr lang="en-US" sz="1300" dirty="0"/>
          </a:p>
          <a:p>
            <a:endParaRPr lang="en-US" sz="1300" dirty="0"/>
          </a:p>
          <a:p>
            <a:endParaRPr lang="en-US" sz="1300" dirty="0"/>
          </a:p>
          <a:p>
            <a:endParaRPr lang="en-US" sz="1300" dirty="0"/>
          </a:p>
          <a:p>
            <a:endParaRPr lang="en-US" sz="1300" dirty="0"/>
          </a:p>
          <a:p>
            <a:pPr marL="0" indent="0">
              <a:buNone/>
            </a:pPr>
            <a:endParaRPr lang="en-US" sz="1300" dirty="0"/>
          </a:p>
          <a:p>
            <a:endParaRPr lang="en-US" sz="1300" dirty="0"/>
          </a:p>
          <a:p>
            <a:endParaRPr lang="en-US" sz="1300" dirty="0"/>
          </a:p>
        </p:txBody>
      </p:sp>
      <p:pic>
        <p:nvPicPr>
          <p:cNvPr id="31" name="Picture 30" descr="A picture containing circle, colorfulness, screenshot, graphics&#10;&#10;Description automatically generated">
            <a:extLst>
              <a:ext uri="{FF2B5EF4-FFF2-40B4-BE49-F238E27FC236}">
                <a16:creationId xmlns:a16="http://schemas.microsoft.com/office/drawing/2014/main" id="{B7DCF30C-F746-997A-3BA7-09F1F8447A0A}"/>
              </a:ext>
            </a:extLst>
          </p:cNvPr>
          <p:cNvPicPr>
            <a:picLocks noChangeAspect="1"/>
          </p:cNvPicPr>
          <p:nvPr/>
        </p:nvPicPr>
        <p:blipFill>
          <a:blip r:embed="rId6"/>
          <a:stretch>
            <a:fillRect/>
          </a:stretch>
        </p:blipFill>
        <p:spPr>
          <a:xfrm>
            <a:off x="9827768" y="1238937"/>
            <a:ext cx="1117600" cy="1117600"/>
          </a:xfrm>
          <a:prstGeom prst="rect">
            <a:avLst/>
          </a:prstGeom>
        </p:spPr>
      </p:pic>
    </p:spTree>
    <p:extLst>
      <p:ext uri="{BB962C8B-B14F-4D97-AF65-F5344CB8AC3E}">
        <p14:creationId xmlns:p14="http://schemas.microsoft.com/office/powerpoint/2010/main" val="1028086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621792" y="891955"/>
            <a:ext cx="6766560" cy="768096"/>
          </a:xfrm>
        </p:spPr>
        <p:txBody>
          <a:bodyPr/>
          <a:lstStyle/>
          <a:p>
            <a:r>
              <a:rPr lang="en-US" dirty="0"/>
              <a:t>CONCLUSION </a:t>
            </a:r>
          </a:p>
        </p:txBody>
      </p:sp>
      <p:sp>
        <p:nvSpPr>
          <p:cNvPr id="3" name="Content Placeholder 2">
            <a:extLst>
              <a:ext uri="{FF2B5EF4-FFF2-40B4-BE49-F238E27FC236}">
                <a16:creationId xmlns:a16="http://schemas.microsoft.com/office/drawing/2014/main" id="{2BE8FDE3-DBA4-6A04-C75D-E56FE92EF368}"/>
              </a:ext>
            </a:extLst>
          </p:cNvPr>
          <p:cNvSpPr>
            <a:spLocks noGrp="1"/>
          </p:cNvSpPr>
          <p:nvPr>
            <p:ph idx="1"/>
          </p:nvPr>
        </p:nvSpPr>
        <p:spPr>
          <a:xfrm>
            <a:off x="621792" y="1660051"/>
            <a:ext cx="8023445" cy="2828821"/>
          </a:xfrm>
        </p:spPr>
        <p:txBody>
          <a:bodyPr/>
          <a:lstStyle/>
          <a:p>
            <a:pPr marL="285750" indent="-285750">
              <a:buFont typeface="Arial" panose="020B0604020202020204" pitchFamily="34" charset="0"/>
              <a:buChar char="•"/>
            </a:pPr>
            <a:r>
              <a:rPr lang="en-US" sz="1800" dirty="0"/>
              <a:t>We have successfully implemented a real time web application and android application to detect malaria.</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Based on our algorithm implemented to our application one can easily detect if they’re infected with malaria-parasite.</a:t>
            </a:r>
          </a:p>
          <a:p>
            <a:endParaRPr lang="en-US" sz="1800" dirty="0"/>
          </a:p>
          <a:p>
            <a:pPr marL="285750" indent="-285750">
              <a:buFont typeface="Arial" panose="020B0604020202020204" pitchFamily="34" charset="0"/>
              <a:buChar char="•"/>
            </a:pPr>
            <a:r>
              <a:rPr lang="en-US" sz="1800" dirty="0"/>
              <a:t>We tested our mobile application and now can distinguish between different blood cells and parasite.</a:t>
            </a:r>
          </a:p>
          <a:p>
            <a:endParaRPr lang="en-US" sz="1800" dirty="0"/>
          </a:p>
          <a:p>
            <a:pPr marL="285750" indent="-285750">
              <a:buFont typeface="Arial" panose="020B0604020202020204" pitchFamily="34" charset="0"/>
              <a:buChar char="•"/>
            </a:pPr>
            <a:r>
              <a:rPr lang="en-US" sz="1800" dirty="0"/>
              <a:t>The mobile app can be used as an aid to primary diagnostic method which can help in speedy detection of disease. </a:t>
            </a:r>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a:xfrm>
            <a:off x="10945368" y="169025"/>
            <a:ext cx="987552" cy="274320"/>
          </a:xfrm>
        </p:spPr>
        <p:txBody>
          <a:bodyPr/>
          <a:lstStyle/>
          <a:p>
            <a:fld id="{48F63A3B-78C7-47BE-AE5E-E10140E04643}" type="slidenum">
              <a:rPr lang="en-US" smtClean="0"/>
              <a:pPr/>
              <a:t>14</a:t>
            </a:fld>
            <a:endParaRPr lang="en-US" dirty="0"/>
          </a:p>
        </p:txBody>
      </p:sp>
      <p:sp>
        <p:nvSpPr>
          <p:cNvPr id="4" name="Footer Placeholder 3">
            <a:extLst>
              <a:ext uri="{FF2B5EF4-FFF2-40B4-BE49-F238E27FC236}">
                <a16:creationId xmlns:a16="http://schemas.microsoft.com/office/drawing/2014/main" id="{D5BA2433-990B-A170-369A-3DF4A9B33BFA}"/>
              </a:ext>
            </a:extLst>
          </p:cNvPr>
          <p:cNvSpPr>
            <a:spLocks noGrp="1"/>
          </p:cNvSpPr>
          <p:nvPr>
            <p:ph type="ftr" sz="quarter" idx="13"/>
          </p:nvPr>
        </p:nvSpPr>
        <p:spPr>
          <a:xfrm>
            <a:off x="621791" y="169025"/>
            <a:ext cx="5197117" cy="274320"/>
          </a:xfrm>
        </p:spPr>
        <p:txBody>
          <a:bodyPr/>
          <a:lstStyle/>
          <a:p>
            <a:r>
              <a:rPr lang="en-US" dirty="0"/>
              <a:t>Detection of Malaria in Blood Cell Using Convolution Neural Network</a:t>
            </a:r>
          </a:p>
        </p:txBody>
      </p:sp>
    </p:spTree>
    <p:extLst>
      <p:ext uri="{BB962C8B-B14F-4D97-AF65-F5344CB8AC3E}">
        <p14:creationId xmlns:p14="http://schemas.microsoft.com/office/powerpoint/2010/main" val="948181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57D77C4-0DFD-41F5-B5D8-50CE30CD33C4}"/>
              </a:ext>
            </a:extLst>
          </p:cNvPr>
          <p:cNvSpPr>
            <a:spLocks noGrp="1"/>
          </p:cNvSpPr>
          <p:nvPr>
            <p:ph type="title"/>
          </p:nvPr>
        </p:nvSpPr>
        <p:spPr>
          <a:xfrm>
            <a:off x="760476" y="121995"/>
            <a:ext cx="10671048" cy="768096"/>
          </a:xfrm>
        </p:spPr>
        <p:txBody>
          <a:bodyPr/>
          <a:lstStyle/>
          <a:p>
            <a:r>
              <a:rPr lang="en-US" dirty="0"/>
              <a:t>Paper published</a:t>
            </a:r>
          </a:p>
        </p:txBody>
      </p:sp>
      <p:pic>
        <p:nvPicPr>
          <p:cNvPr id="4" name="Picture 3">
            <a:extLst>
              <a:ext uri="{FF2B5EF4-FFF2-40B4-BE49-F238E27FC236}">
                <a16:creationId xmlns:a16="http://schemas.microsoft.com/office/drawing/2014/main" id="{6EA1F127-E922-229C-A8B7-4D3B20713715}"/>
              </a:ext>
            </a:extLst>
          </p:cNvPr>
          <p:cNvPicPr>
            <a:picLocks noChangeAspect="1"/>
          </p:cNvPicPr>
          <p:nvPr/>
        </p:nvPicPr>
        <p:blipFill>
          <a:blip r:embed="rId2"/>
          <a:stretch>
            <a:fillRect/>
          </a:stretch>
        </p:blipFill>
        <p:spPr>
          <a:xfrm>
            <a:off x="2417214" y="1182892"/>
            <a:ext cx="7663027" cy="5095913"/>
          </a:xfrm>
          <a:prstGeom prst="rect">
            <a:avLst/>
          </a:prstGeom>
          <a:noFill/>
        </p:spPr>
      </p:pic>
    </p:spTree>
    <p:extLst>
      <p:ext uri="{BB962C8B-B14F-4D97-AF65-F5344CB8AC3E}">
        <p14:creationId xmlns:p14="http://schemas.microsoft.com/office/powerpoint/2010/main" val="35285003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524000" y="2650652"/>
            <a:ext cx="5391912" cy="1907494"/>
          </a:xfrm>
        </p:spPr>
        <p:txBody>
          <a:bodyPr/>
          <a:lstStyle/>
          <a:p>
            <a:r>
              <a:rPr lang="en-US" dirty="0"/>
              <a:t>THANK YOU</a:t>
            </a:r>
          </a:p>
        </p:txBody>
      </p:sp>
    </p:spTree>
    <p:extLst>
      <p:ext uri="{BB962C8B-B14F-4D97-AF65-F5344CB8AC3E}">
        <p14:creationId xmlns:p14="http://schemas.microsoft.com/office/powerpoint/2010/main" val="1003962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787</TotalTime>
  <Words>1064</Words>
  <Application>Microsoft Macintosh PowerPoint</Application>
  <PresentationFormat>Widescreen</PresentationFormat>
  <Paragraphs>156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Black</vt:lpstr>
      <vt:lpstr>Calibri</vt:lpstr>
      <vt:lpstr>Helvetica</vt:lpstr>
      <vt:lpstr>Sabon Next LT</vt:lpstr>
      <vt:lpstr>Office Theme</vt:lpstr>
      <vt:lpstr>Detection of malaria  in blood cells using convolution neural network </vt:lpstr>
      <vt:lpstr>phase overview (roadmap)  </vt:lpstr>
      <vt:lpstr>Dataset</vt:lpstr>
      <vt:lpstr>PowerPoint Presentation</vt:lpstr>
      <vt:lpstr>ABOUT CNN</vt:lpstr>
      <vt:lpstr>Evaluating our model</vt:lpstr>
      <vt:lpstr>SYSTEM ARCHITECTURE</vt:lpstr>
      <vt:lpstr>SCREENSHOTS</vt:lpstr>
      <vt:lpstr>SCREENSHOTS</vt:lpstr>
      <vt:lpstr>SCREENSHOTS</vt:lpstr>
      <vt:lpstr>TRACKING THE PROGRESSION</vt:lpstr>
      <vt:lpstr>TRACKING THE PROGRESSION</vt:lpstr>
      <vt:lpstr>why Our approach?</vt:lpstr>
      <vt:lpstr>CONCLUSION </vt:lpstr>
      <vt:lpstr>Paper published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of malaria  in blood cells using convolution neural network  </dc:title>
  <dc:subject/>
  <dc:creator>Baibhav Dhakal</dc:creator>
  <cp:lastModifiedBy>anurag nepal</cp:lastModifiedBy>
  <cp:revision>11</cp:revision>
  <dcterms:created xsi:type="dcterms:W3CDTF">2022-12-05T18:45:52Z</dcterms:created>
  <dcterms:modified xsi:type="dcterms:W3CDTF">2023-05-09T04:18:28Z</dcterms:modified>
</cp:coreProperties>
</file>