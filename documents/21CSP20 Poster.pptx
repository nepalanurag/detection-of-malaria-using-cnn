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
  </p:notesMasterIdLst>
  <p:sldIdLst>
    <p:sldId id="410" r:id="rId2"/>
  </p:sldIdLst>
  <p:sldSz cx="12192000" cy="77724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hwetha Kumari" initials="SK" lastIdx="1" clrIdx="0">
    <p:extLst>
      <p:ext uri="{19B8F6BF-5375-455C-9EA6-DF929625EA0E}">
        <p15:presenceInfo xmlns:p15="http://schemas.microsoft.com/office/powerpoint/2012/main" userId="Shwetha Kumari"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99"/>
    <a:srgbClr val="0D0D0D"/>
    <a:srgbClr val="2D3E8E"/>
    <a:srgbClr val="5AA200"/>
    <a:srgbClr val="0000FF"/>
    <a:srgbClr val="FFFFFF"/>
    <a:srgbClr val="F489FF"/>
    <a:srgbClr val="BC00D0"/>
    <a:srgbClr val="0033CC"/>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75" d="100"/>
          <a:sy n="75" d="100"/>
        </p:scale>
        <p:origin x="250"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6565C9B-F1C8-4A68-AD10-F89060A940D2}" type="datetimeFigureOut">
              <a:rPr lang="en-US" smtClean="0"/>
              <a:t>5/25/2023</a:t>
            </a:fld>
            <a:endParaRPr lang="en-US"/>
          </a:p>
        </p:txBody>
      </p:sp>
      <p:sp>
        <p:nvSpPr>
          <p:cNvPr id="4" name="Slide Image Placeholder 3"/>
          <p:cNvSpPr>
            <a:spLocks noGrp="1" noRot="1" noChangeAspect="1"/>
          </p:cNvSpPr>
          <p:nvPr>
            <p:ph type="sldImg" idx="2"/>
          </p:nvPr>
        </p:nvSpPr>
        <p:spPr>
          <a:xfrm>
            <a:off x="1008063" y="1143000"/>
            <a:ext cx="48418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60446C9-16CB-413C-A10A-7F3E46938840}" type="slidenum">
              <a:rPr lang="en-US" smtClean="0"/>
              <a:t>‹#›</a:t>
            </a:fld>
            <a:endParaRPr lang="en-US"/>
          </a:p>
        </p:txBody>
      </p:sp>
    </p:spTree>
    <p:extLst>
      <p:ext uri="{BB962C8B-B14F-4D97-AF65-F5344CB8AC3E}">
        <p14:creationId xmlns:p14="http://schemas.microsoft.com/office/powerpoint/2010/main" val="6681854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1524000" y="1272012"/>
            <a:ext cx="9144000" cy="2705947"/>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
          <p:cNvSpPr txBox="1">
            <a:spLocks noGrp="1"/>
          </p:cNvSpPr>
          <p:nvPr>
            <p:ph type="subTitle" idx="1"/>
          </p:nvPr>
        </p:nvSpPr>
        <p:spPr>
          <a:xfrm>
            <a:off x="1524000" y="4082310"/>
            <a:ext cx="9144000" cy="1876530"/>
          </a:xfrm>
          <a:prstGeom prst="rect">
            <a:avLst/>
          </a:prstGeom>
          <a:noFill/>
          <a:ln>
            <a:noFill/>
          </a:ln>
        </p:spPr>
        <p:txBody>
          <a:bodyPr spcFirstLastPara="1" wrap="square" lIns="91425" tIns="45700" rIns="91425" bIns="45700" anchor="t" anchorCtr="0">
            <a:no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2"/>
          <p:cNvSpPr txBox="1">
            <a:spLocks noGrp="1"/>
          </p:cNvSpPr>
          <p:nvPr>
            <p:ph type="dt" idx="10"/>
          </p:nvPr>
        </p:nvSpPr>
        <p:spPr>
          <a:xfrm>
            <a:off x="838200" y="7203865"/>
            <a:ext cx="2743200" cy="41380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16-05-2021 </a:t>
            </a:r>
            <a:endParaRPr/>
          </a:p>
        </p:txBody>
      </p:sp>
      <p:sp>
        <p:nvSpPr>
          <p:cNvPr id="19" name="Google Shape;19;p2"/>
          <p:cNvSpPr txBox="1">
            <a:spLocks noGrp="1"/>
          </p:cNvSpPr>
          <p:nvPr>
            <p:ph type="ftr" idx="11"/>
          </p:nvPr>
        </p:nvSpPr>
        <p:spPr>
          <a:xfrm>
            <a:off x="4038600" y="7203865"/>
            <a:ext cx="4114800" cy="413808"/>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IN"/>
              <a:t>Computer Science and Engineering</a:t>
            </a:r>
            <a:endParaRPr/>
          </a:p>
        </p:txBody>
      </p:sp>
      <p:sp>
        <p:nvSpPr>
          <p:cNvPr id="20" name="Google Shape;20;p2"/>
          <p:cNvSpPr txBox="1">
            <a:spLocks noGrp="1"/>
          </p:cNvSpPr>
          <p:nvPr>
            <p:ph type="sldNum" idx="12"/>
          </p:nvPr>
        </p:nvSpPr>
        <p:spPr>
          <a:xfrm>
            <a:off x="8610600" y="7203865"/>
            <a:ext cx="2743200" cy="413808"/>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13748013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30"/>
        <p:cNvGrpSpPr/>
        <p:nvPr/>
      </p:nvGrpSpPr>
      <p:grpSpPr>
        <a:xfrm>
          <a:off x="0" y="0"/>
          <a:ext cx="0" cy="0"/>
          <a:chOff x="0" y="0"/>
          <a:chExt cx="0" cy="0"/>
        </a:xfrm>
      </p:grpSpPr>
      <p:sp>
        <p:nvSpPr>
          <p:cNvPr id="31" name="Google Shape;31;p4"/>
          <p:cNvSpPr txBox="1">
            <a:spLocks noGrp="1"/>
          </p:cNvSpPr>
          <p:nvPr>
            <p:ph type="title"/>
          </p:nvPr>
        </p:nvSpPr>
        <p:spPr>
          <a:xfrm>
            <a:off x="831850" y="1937705"/>
            <a:ext cx="10515600" cy="3233102"/>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4"/>
          <p:cNvSpPr txBox="1">
            <a:spLocks noGrp="1"/>
          </p:cNvSpPr>
          <p:nvPr>
            <p:ph type="body" idx="1"/>
          </p:nvPr>
        </p:nvSpPr>
        <p:spPr>
          <a:xfrm>
            <a:off x="831850" y="5201393"/>
            <a:ext cx="10515600" cy="1700212"/>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3" name="Google Shape;33;p4"/>
          <p:cNvSpPr txBox="1">
            <a:spLocks noGrp="1"/>
          </p:cNvSpPr>
          <p:nvPr>
            <p:ph type="dt" idx="10"/>
          </p:nvPr>
        </p:nvSpPr>
        <p:spPr>
          <a:xfrm>
            <a:off x="838200" y="7203865"/>
            <a:ext cx="2743200" cy="41380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16-05-2021 </a:t>
            </a:r>
            <a:endParaRPr/>
          </a:p>
        </p:txBody>
      </p:sp>
      <p:sp>
        <p:nvSpPr>
          <p:cNvPr id="34" name="Google Shape;34;p4"/>
          <p:cNvSpPr txBox="1">
            <a:spLocks noGrp="1"/>
          </p:cNvSpPr>
          <p:nvPr>
            <p:ph type="ftr" idx="11"/>
          </p:nvPr>
        </p:nvSpPr>
        <p:spPr>
          <a:xfrm>
            <a:off x="4038600" y="7203865"/>
            <a:ext cx="4114800" cy="413808"/>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IN"/>
              <a:t>Computer Science and Engineering</a:t>
            </a:r>
            <a:endParaRPr/>
          </a:p>
        </p:txBody>
      </p:sp>
      <p:sp>
        <p:nvSpPr>
          <p:cNvPr id="35" name="Google Shape;35;p4"/>
          <p:cNvSpPr txBox="1">
            <a:spLocks noGrp="1"/>
          </p:cNvSpPr>
          <p:nvPr>
            <p:ph type="sldNum" idx="12"/>
          </p:nvPr>
        </p:nvSpPr>
        <p:spPr>
          <a:xfrm>
            <a:off x="8610600" y="7203865"/>
            <a:ext cx="2743200" cy="413808"/>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40504790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36"/>
        <p:cNvGrpSpPr/>
        <p:nvPr/>
      </p:nvGrpSpPr>
      <p:grpSpPr>
        <a:xfrm>
          <a:off x="0" y="0"/>
          <a:ext cx="0" cy="0"/>
          <a:chOff x="0" y="0"/>
          <a:chExt cx="0" cy="0"/>
        </a:xfrm>
      </p:grpSpPr>
      <p:sp>
        <p:nvSpPr>
          <p:cNvPr id="37" name="Google Shape;37;p5"/>
          <p:cNvSpPr txBox="1">
            <a:spLocks noGrp="1"/>
          </p:cNvSpPr>
          <p:nvPr>
            <p:ph type="title"/>
          </p:nvPr>
        </p:nvSpPr>
        <p:spPr>
          <a:xfrm>
            <a:off x="838200" y="413810"/>
            <a:ext cx="10515600" cy="1502305"/>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5"/>
          <p:cNvSpPr txBox="1">
            <a:spLocks noGrp="1"/>
          </p:cNvSpPr>
          <p:nvPr>
            <p:ph type="body" idx="1"/>
          </p:nvPr>
        </p:nvSpPr>
        <p:spPr>
          <a:xfrm>
            <a:off x="838200" y="2069042"/>
            <a:ext cx="5181600" cy="4931516"/>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9" name="Google Shape;39;p5"/>
          <p:cNvSpPr txBox="1">
            <a:spLocks noGrp="1"/>
          </p:cNvSpPr>
          <p:nvPr>
            <p:ph type="body" idx="2"/>
          </p:nvPr>
        </p:nvSpPr>
        <p:spPr>
          <a:xfrm>
            <a:off x="6172200" y="2069042"/>
            <a:ext cx="5181600" cy="4931516"/>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5"/>
          <p:cNvSpPr txBox="1">
            <a:spLocks noGrp="1"/>
          </p:cNvSpPr>
          <p:nvPr>
            <p:ph type="dt" idx="10"/>
          </p:nvPr>
        </p:nvSpPr>
        <p:spPr>
          <a:xfrm>
            <a:off x="838200" y="7203865"/>
            <a:ext cx="2743200" cy="41380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16-05-2021 </a:t>
            </a:r>
            <a:endParaRPr/>
          </a:p>
        </p:txBody>
      </p:sp>
      <p:sp>
        <p:nvSpPr>
          <p:cNvPr id="41" name="Google Shape;41;p5"/>
          <p:cNvSpPr txBox="1">
            <a:spLocks noGrp="1"/>
          </p:cNvSpPr>
          <p:nvPr>
            <p:ph type="ftr" idx="11"/>
          </p:nvPr>
        </p:nvSpPr>
        <p:spPr>
          <a:xfrm>
            <a:off x="4038600" y="7203865"/>
            <a:ext cx="4114800" cy="413808"/>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IN"/>
              <a:t>Computer Science and Engineering</a:t>
            </a:r>
            <a:endParaRPr/>
          </a:p>
        </p:txBody>
      </p:sp>
      <p:sp>
        <p:nvSpPr>
          <p:cNvPr id="42" name="Google Shape;42;p5"/>
          <p:cNvSpPr txBox="1">
            <a:spLocks noGrp="1"/>
          </p:cNvSpPr>
          <p:nvPr>
            <p:ph type="sldNum" idx="12"/>
          </p:nvPr>
        </p:nvSpPr>
        <p:spPr>
          <a:xfrm>
            <a:off x="8610600" y="7203865"/>
            <a:ext cx="2743200" cy="413808"/>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1466588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43"/>
        <p:cNvGrpSpPr/>
        <p:nvPr/>
      </p:nvGrpSpPr>
      <p:grpSpPr>
        <a:xfrm>
          <a:off x="0" y="0"/>
          <a:ext cx="0" cy="0"/>
          <a:chOff x="0" y="0"/>
          <a:chExt cx="0" cy="0"/>
        </a:xfrm>
      </p:grpSpPr>
      <p:sp>
        <p:nvSpPr>
          <p:cNvPr id="44" name="Google Shape;44;p6"/>
          <p:cNvSpPr txBox="1">
            <a:spLocks noGrp="1"/>
          </p:cNvSpPr>
          <p:nvPr>
            <p:ph type="title"/>
          </p:nvPr>
        </p:nvSpPr>
        <p:spPr>
          <a:xfrm>
            <a:off x="839788" y="413810"/>
            <a:ext cx="10515600" cy="1502305"/>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6"/>
          <p:cNvSpPr txBox="1">
            <a:spLocks noGrp="1"/>
          </p:cNvSpPr>
          <p:nvPr>
            <p:ph type="body" idx="1"/>
          </p:nvPr>
        </p:nvSpPr>
        <p:spPr>
          <a:xfrm>
            <a:off x="839791" y="1905319"/>
            <a:ext cx="5157787" cy="933767"/>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6" name="Google Shape;46;p6"/>
          <p:cNvSpPr txBox="1">
            <a:spLocks noGrp="1"/>
          </p:cNvSpPr>
          <p:nvPr>
            <p:ph type="body" idx="2"/>
          </p:nvPr>
        </p:nvSpPr>
        <p:spPr>
          <a:xfrm>
            <a:off x="839791" y="2839085"/>
            <a:ext cx="5157787" cy="4175866"/>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7" name="Google Shape;47;p6"/>
          <p:cNvSpPr txBox="1">
            <a:spLocks noGrp="1"/>
          </p:cNvSpPr>
          <p:nvPr>
            <p:ph type="body" idx="3"/>
          </p:nvPr>
        </p:nvSpPr>
        <p:spPr>
          <a:xfrm>
            <a:off x="6172200" y="1905319"/>
            <a:ext cx="5183188" cy="933767"/>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8" name="Google Shape;48;p6"/>
          <p:cNvSpPr txBox="1">
            <a:spLocks noGrp="1"/>
          </p:cNvSpPr>
          <p:nvPr>
            <p:ph type="body" idx="4"/>
          </p:nvPr>
        </p:nvSpPr>
        <p:spPr>
          <a:xfrm>
            <a:off x="6172200" y="2839085"/>
            <a:ext cx="5183188" cy="4175866"/>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6"/>
          <p:cNvSpPr txBox="1">
            <a:spLocks noGrp="1"/>
          </p:cNvSpPr>
          <p:nvPr>
            <p:ph type="dt" idx="10"/>
          </p:nvPr>
        </p:nvSpPr>
        <p:spPr>
          <a:xfrm>
            <a:off x="838200" y="7203865"/>
            <a:ext cx="2743200" cy="41380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16-05-2021 </a:t>
            </a:r>
            <a:endParaRPr/>
          </a:p>
        </p:txBody>
      </p:sp>
      <p:sp>
        <p:nvSpPr>
          <p:cNvPr id="50" name="Google Shape;50;p6"/>
          <p:cNvSpPr txBox="1">
            <a:spLocks noGrp="1"/>
          </p:cNvSpPr>
          <p:nvPr>
            <p:ph type="ftr" idx="11"/>
          </p:nvPr>
        </p:nvSpPr>
        <p:spPr>
          <a:xfrm>
            <a:off x="4038600" y="7203865"/>
            <a:ext cx="4114800" cy="413808"/>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IN"/>
              <a:t>Computer Science and Engineering</a:t>
            </a:r>
            <a:endParaRPr/>
          </a:p>
        </p:txBody>
      </p:sp>
      <p:sp>
        <p:nvSpPr>
          <p:cNvPr id="51" name="Google Shape;51;p6"/>
          <p:cNvSpPr txBox="1">
            <a:spLocks noGrp="1"/>
          </p:cNvSpPr>
          <p:nvPr>
            <p:ph type="sldNum" idx="12"/>
          </p:nvPr>
        </p:nvSpPr>
        <p:spPr>
          <a:xfrm>
            <a:off x="8610600" y="7203865"/>
            <a:ext cx="2743200" cy="413808"/>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27035850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61"/>
        <p:cNvGrpSpPr/>
        <p:nvPr/>
      </p:nvGrpSpPr>
      <p:grpSpPr>
        <a:xfrm>
          <a:off x="0" y="0"/>
          <a:ext cx="0" cy="0"/>
          <a:chOff x="0" y="0"/>
          <a:chExt cx="0" cy="0"/>
        </a:xfrm>
      </p:grpSpPr>
      <p:sp>
        <p:nvSpPr>
          <p:cNvPr id="62" name="Google Shape;62;p9"/>
          <p:cNvSpPr txBox="1">
            <a:spLocks noGrp="1"/>
          </p:cNvSpPr>
          <p:nvPr>
            <p:ph type="title"/>
          </p:nvPr>
        </p:nvSpPr>
        <p:spPr>
          <a:xfrm>
            <a:off x="839791" y="518160"/>
            <a:ext cx="3932237" cy="181356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9"/>
          <p:cNvSpPr txBox="1">
            <a:spLocks noGrp="1"/>
          </p:cNvSpPr>
          <p:nvPr>
            <p:ph type="body" idx="1"/>
          </p:nvPr>
        </p:nvSpPr>
        <p:spPr>
          <a:xfrm>
            <a:off x="5183188" y="1119083"/>
            <a:ext cx="6172200" cy="5523442"/>
          </a:xfrm>
          <a:prstGeom prst="rect">
            <a:avLst/>
          </a:prstGeom>
          <a:noFill/>
          <a:ln>
            <a:noFill/>
          </a:ln>
        </p:spPr>
        <p:txBody>
          <a:bodyPr spcFirstLastPara="1" wrap="square" lIns="91425" tIns="45700" rIns="91425" bIns="45700" anchor="t" anchorCtr="0">
            <a:no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4" name="Google Shape;64;p9"/>
          <p:cNvSpPr txBox="1">
            <a:spLocks noGrp="1"/>
          </p:cNvSpPr>
          <p:nvPr>
            <p:ph type="body" idx="2"/>
          </p:nvPr>
        </p:nvSpPr>
        <p:spPr>
          <a:xfrm>
            <a:off x="839791" y="2331720"/>
            <a:ext cx="3932237" cy="4319800"/>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9"/>
          <p:cNvSpPr txBox="1">
            <a:spLocks noGrp="1"/>
          </p:cNvSpPr>
          <p:nvPr>
            <p:ph type="dt" idx="10"/>
          </p:nvPr>
        </p:nvSpPr>
        <p:spPr>
          <a:xfrm>
            <a:off x="838200" y="7203865"/>
            <a:ext cx="2743200" cy="41380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16-05-2021 </a:t>
            </a:r>
            <a:endParaRPr/>
          </a:p>
        </p:txBody>
      </p:sp>
      <p:sp>
        <p:nvSpPr>
          <p:cNvPr id="66" name="Google Shape;66;p9"/>
          <p:cNvSpPr txBox="1">
            <a:spLocks noGrp="1"/>
          </p:cNvSpPr>
          <p:nvPr>
            <p:ph type="ftr" idx="11"/>
          </p:nvPr>
        </p:nvSpPr>
        <p:spPr>
          <a:xfrm>
            <a:off x="4038600" y="7203865"/>
            <a:ext cx="4114800" cy="413808"/>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IN"/>
              <a:t>Computer Science and Engineering</a:t>
            </a:r>
            <a:endParaRPr/>
          </a:p>
        </p:txBody>
      </p:sp>
      <p:sp>
        <p:nvSpPr>
          <p:cNvPr id="67" name="Google Shape;67;p9"/>
          <p:cNvSpPr txBox="1">
            <a:spLocks noGrp="1"/>
          </p:cNvSpPr>
          <p:nvPr>
            <p:ph type="sldNum" idx="12"/>
          </p:nvPr>
        </p:nvSpPr>
        <p:spPr>
          <a:xfrm>
            <a:off x="8610600" y="7203865"/>
            <a:ext cx="2743200" cy="413808"/>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42238430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68"/>
        <p:cNvGrpSpPr/>
        <p:nvPr/>
      </p:nvGrpSpPr>
      <p:grpSpPr>
        <a:xfrm>
          <a:off x="0" y="0"/>
          <a:ext cx="0" cy="0"/>
          <a:chOff x="0" y="0"/>
          <a:chExt cx="0" cy="0"/>
        </a:xfrm>
      </p:grpSpPr>
      <p:sp>
        <p:nvSpPr>
          <p:cNvPr id="69" name="Google Shape;69;p10"/>
          <p:cNvSpPr txBox="1">
            <a:spLocks noGrp="1"/>
          </p:cNvSpPr>
          <p:nvPr>
            <p:ph type="title"/>
          </p:nvPr>
        </p:nvSpPr>
        <p:spPr>
          <a:xfrm>
            <a:off x="839791" y="518160"/>
            <a:ext cx="3932237" cy="181356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0"/>
          <p:cNvSpPr>
            <a:spLocks noGrp="1"/>
          </p:cNvSpPr>
          <p:nvPr>
            <p:ph type="pic" idx="2"/>
          </p:nvPr>
        </p:nvSpPr>
        <p:spPr>
          <a:xfrm>
            <a:off x="5183188" y="1119083"/>
            <a:ext cx="6172200" cy="5523442"/>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71" name="Google Shape;71;p10"/>
          <p:cNvSpPr txBox="1">
            <a:spLocks noGrp="1"/>
          </p:cNvSpPr>
          <p:nvPr>
            <p:ph type="body" idx="1"/>
          </p:nvPr>
        </p:nvSpPr>
        <p:spPr>
          <a:xfrm>
            <a:off x="839791" y="2331720"/>
            <a:ext cx="3932237" cy="4319800"/>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2" name="Google Shape;72;p10"/>
          <p:cNvSpPr txBox="1">
            <a:spLocks noGrp="1"/>
          </p:cNvSpPr>
          <p:nvPr>
            <p:ph type="dt" idx="10"/>
          </p:nvPr>
        </p:nvSpPr>
        <p:spPr>
          <a:xfrm>
            <a:off x="838200" y="7203865"/>
            <a:ext cx="2743200" cy="41380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16-05-2021 </a:t>
            </a:r>
            <a:endParaRPr/>
          </a:p>
        </p:txBody>
      </p:sp>
      <p:sp>
        <p:nvSpPr>
          <p:cNvPr id="73" name="Google Shape;73;p10"/>
          <p:cNvSpPr txBox="1">
            <a:spLocks noGrp="1"/>
          </p:cNvSpPr>
          <p:nvPr>
            <p:ph type="ftr" idx="11"/>
          </p:nvPr>
        </p:nvSpPr>
        <p:spPr>
          <a:xfrm>
            <a:off x="4038600" y="7203865"/>
            <a:ext cx="4114800" cy="413808"/>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IN"/>
              <a:t>Computer Science and Engineering</a:t>
            </a:r>
            <a:endParaRPr/>
          </a:p>
        </p:txBody>
      </p:sp>
      <p:sp>
        <p:nvSpPr>
          <p:cNvPr id="74" name="Google Shape;74;p10"/>
          <p:cNvSpPr txBox="1">
            <a:spLocks noGrp="1"/>
          </p:cNvSpPr>
          <p:nvPr>
            <p:ph type="sldNum" idx="12"/>
          </p:nvPr>
        </p:nvSpPr>
        <p:spPr>
          <a:xfrm>
            <a:off x="8610600" y="7203865"/>
            <a:ext cx="2743200" cy="413808"/>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35821034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75"/>
        <p:cNvGrpSpPr/>
        <p:nvPr/>
      </p:nvGrpSpPr>
      <p:grpSpPr>
        <a:xfrm>
          <a:off x="0" y="0"/>
          <a:ext cx="0" cy="0"/>
          <a:chOff x="0" y="0"/>
          <a:chExt cx="0" cy="0"/>
        </a:xfrm>
      </p:grpSpPr>
      <p:sp>
        <p:nvSpPr>
          <p:cNvPr id="76" name="Google Shape;76;p11"/>
          <p:cNvSpPr txBox="1">
            <a:spLocks noGrp="1"/>
          </p:cNvSpPr>
          <p:nvPr>
            <p:ph type="title"/>
          </p:nvPr>
        </p:nvSpPr>
        <p:spPr>
          <a:xfrm>
            <a:off x="838200" y="413810"/>
            <a:ext cx="10515600" cy="1502305"/>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1"/>
          <p:cNvSpPr txBox="1">
            <a:spLocks noGrp="1"/>
          </p:cNvSpPr>
          <p:nvPr>
            <p:ph type="body" idx="1"/>
          </p:nvPr>
        </p:nvSpPr>
        <p:spPr>
          <a:xfrm rot="5400000">
            <a:off x="3630242" y="-723000"/>
            <a:ext cx="4931516" cy="105156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8" name="Google Shape;78;p11"/>
          <p:cNvSpPr txBox="1">
            <a:spLocks noGrp="1"/>
          </p:cNvSpPr>
          <p:nvPr>
            <p:ph type="dt" idx="10"/>
          </p:nvPr>
        </p:nvSpPr>
        <p:spPr>
          <a:xfrm>
            <a:off x="838200" y="7203865"/>
            <a:ext cx="2743200" cy="41380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16-05-2021 </a:t>
            </a:r>
            <a:endParaRPr/>
          </a:p>
        </p:txBody>
      </p:sp>
      <p:sp>
        <p:nvSpPr>
          <p:cNvPr id="79" name="Google Shape;79;p11"/>
          <p:cNvSpPr txBox="1">
            <a:spLocks noGrp="1"/>
          </p:cNvSpPr>
          <p:nvPr>
            <p:ph type="ftr" idx="11"/>
          </p:nvPr>
        </p:nvSpPr>
        <p:spPr>
          <a:xfrm>
            <a:off x="4038600" y="7203865"/>
            <a:ext cx="4114800" cy="413808"/>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IN"/>
              <a:t>Computer Science and Engineering</a:t>
            </a:r>
            <a:endParaRPr/>
          </a:p>
        </p:txBody>
      </p:sp>
      <p:sp>
        <p:nvSpPr>
          <p:cNvPr id="80" name="Google Shape;80;p11"/>
          <p:cNvSpPr txBox="1">
            <a:spLocks noGrp="1"/>
          </p:cNvSpPr>
          <p:nvPr>
            <p:ph type="sldNum" idx="12"/>
          </p:nvPr>
        </p:nvSpPr>
        <p:spPr>
          <a:xfrm>
            <a:off x="8610600" y="7203865"/>
            <a:ext cx="2743200" cy="413808"/>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16557856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81"/>
        <p:cNvGrpSpPr/>
        <p:nvPr/>
      </p:nvGrpSpPr>
      <p:grpSpPr>
        <a:xfrm>
          <a:off x="0" y="0"/>
          <a:ext cx="0" cy="0"/>
          <a:chOff x="0" y="0"/>
          <a:chExt cx="0" cy="0"/>
        </a:xfrm>
      </p:grpSpPr>
      <p:sp>
        <p:nvSpPr>
          <p:cNvPr id="82" name="Google Shape;82;p12"/>
          <p:cNvSpPr txBox="1">
            <a:spLocks noGrp="1"/>
          </p:cNvSpPr>
          <p:nvPr>
            <p:ph type="title"/>
          </p:nvPr>
        </p:nvSpPr>
        <p:spPr>
          <a:xfrm rot="5400000">
            <a:off x="6745976" y="2392733"/>
            <a:ext cx="6586750" cy="2628900"/>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2"/>
          <p:cNvSpPr txBox="1">
            <a:spLocks noGrp="1"/>
          </p:cNvSpPr>
          <p:nvPr>
            <p:ph type="body" idx="1"/>
          </p:nvPr>
        </p:nvSpPr>
        <p:spPr>
          <a:xfrm rot="5400000">
            <a:off x="1411976" y="-159967"/>
            <a:ext cx="6586750" cy="77343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2"/>
          <p:cNvSpPr txBox="1">
            <a:spLocks noGrp="1"/>
          </p:cNvSpPr>
          <p:nvPr>
            <p:ph type="dt" idx="10"/>
          </p:nvPr>
        </p:nvSpPr>
        <p:spPr>
          <a:xfrm>
            <a:off x="838200" y="7203865"/>
            <a:ext cx="2743200" cy="41380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16-05-2021 </a:t>
            </a:r>
            <a:endParaRPr/>
          </a:p>
        </p:txBody>
      </p:sp>
      <p:sp>
        <p:nvSpPr>
          <p:cNvPr id="85" name="Google Shape;85;p12"/>
          <p:cNvSpPr txBox="1">
            <a:spLocks noGrp="1"/>
          </p:cNvSpPr>
          <p:nvPr>
            <p:ph type="ftr" idx="11"/>
          </p:nvPr>
        </p:nvSpPr>
        <p:spPr>
          <a:xfrm>
            <a:off x="4038600" y="7203865"/>
            <a:ext cx="4114800" cy="413808"/>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IN"/>
              <a:t>Computer Science and Engineering</a:t>
            </a:r>
            <a:endParaRPr/>
          </a:p>
        </p:txBody>
      </p:sp>
      <p:sp>
        <p:nvSpPr>
          <p:cNvPr id="86" name="Google Shape;86;p12"/>
          <p:cNvSpPr txBox="1">
            <a:spLocks noGrp="1"/>
          </p:cNvSpPr>
          <p:nvPr>
            <p:ph type="sldNum" idx="12"/>
          </p:nvPr>
        </p:nvSpPr>
        <p:spPr>
          <a:xfrm>
            <a:off x="8610600" y="7203865"/>
            <a:ext cx="2743200" cy="413808"/>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40455014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413810"/>
            <a:ext cx="10515600" cy="1502305"/>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
          <p:cNvSpPr txBox="1">
            <a:spLocks noGrp="1"/>
          </p:cNvSpPr>
          <p:nvPr>
            <p:ph type="body" idx="1"/>
          </p:nvPr>
        </p:nvSpPr>
        <p:spPr>
          <a:xfrm>
            <a:off x="838200" y="2069042"/>
            <a:ext cx="10515600" cy="4931516"/>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7203865"/>
            <a:ext cx="2743200" cy="413808"/>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a:t>16-05-2021 </a:t>
            </a:r>
            <a:endParaRPr/>
          </a:p>
        </p:txBody>
      </p:sp>
      <p:sp>
        <p:nvSpPr>
          <p:cNvPr id="13" name="Google Shape;13;p1"/>
          <p:cNvSpPr txBox="1">
            <a:spLocks noGrp="1"/>
          </p:cNvSpPr>
          <p:nvPr>
            <p:ph type="ftr" idx="11"/>
          </p:nvPr>
        </p:nvSpPr>
        <p:spPr>
          <a:xfrm>
            <a:off x="4038600" y="7203865"/>
            <a:ext cx="4114800" cy="413808"/>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IN"/>
              <a:t>Computer Science and Engineering</a:t>
            </a:r>
            <a:endParaRPr/>
          </a:p>
        </p:txBody>
      </p:sp>
      <p:sp>
        <p:nvSpPr>
          <p:cNvPr id="14" name="Google Shape;14;p1"/>
          <p:cNvSpPr txBox="1">
            <a:spLocks noGrp="1"/>
          </p:cNvSpPr>
          <p:nvPr>
            <p:ph type="sldNum" idx="12"/>
          </p:nvPr>
        </p:nvSpPr>
        <p:spPr>
          <a:xfrm>
            <a:off x="8610600" y="7203865"/>
            <a:ext cx="2743200" cy="413808"/>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2019749404"/>
      </p:ext>
    </p:extLst>
  </p:cSld>
  <p:clrMap bg1="lt1" tx1="dk1" bg2="dk2" tx2="lt2" accent1="accent1" accent2="accent2" accent3="accent3" accent4="accent4" accent5="accent5" accent6="accent6" hlink="hlink" folHlink="folHlink"/>
  <p:sldLayoutIdLst>
    <p:sldLayoutId id="2147483661" r:id="rId1"/>
    <p:sldLayoutId id="2147483663" r:id="rId2"/>
    <p:sldLayoutId id="2147483664" r:id="rId3"/>
    <p:sldLayoutId id="2147483665" r:id="rId4"/>
    <p:sldLayoutId id="2147483666" r:id="rId5"/>
    <p:sldLayoutId id="2147483667" r:id="rId6"/>
    <p:sldLayoutId id="2147483668" r:id="rId7"/>
    <p:sldLayoutId id="2147483669" r:id="rId8"/>
  </p:sldLayoutIdLst>
  <p:hf hdr="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TextBox 20">
            <a:extLst>
              <a:ext uri="{FF2B5EF4-FFF2-40B4-BE49-F238E27FC236}">
                <a16:creationId xmlns:a16="http://schemas.microsoft.com/office/drawing/2014/main" id="{68A8916B-0C39-CA63-806F-2653D729AE2E}"/>
              </a:ext>
            </a:extLst>
          </p:cNvPr>
          <p:cNvSpPr txBox="1"/>
          <p:nvPr/>
        </p:nvSpPr>
        <p:spPr>
          <a:xfrm>
            <a:off x="0" y="11543"/>
            <a:ext cx="12184847" cy="914400"/>
          </a:xfrm>
          <a:prstGeom prst="rect">
            <a:avLst/>
          </a:prstGeom>
          <a:solidFill>
            <a:schemeClr val="bg1"/>
          </a:solidFill>
        </p:spPr>
        <p:txBody>
          <a:bodyPr wrap="square" rtlCol="0">
            <a:spAutoFit/>
          </a:bodyPr>
          <a:lstStyle/>
          <a:p>
            <a:endParaRPr lang="en-US" dirty="0"/>
          </a:p>
        </p:txBody>
      </p:sp>
      <p:pic>
        <p:nvPicPr>
          <p:cNvPr id="25" name="Picture 2" descr="Best Engineering Colleges in Bangalore | NMIT Bangalore">
            <a:extLst>
              <a:ext uri="{FF2B5EF4-FFF2-40B4-BE49-F238E27FC236}">
                <a16:creationId xmlns:a16="http://schemas.microsoft.com/office/drawing/2014/main" id="{E40B53D4-C6B9-BBD2-3C97-FEDF8D5C90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9249" y="79789"/>
            <a:ext cx="10344151" cy="727697"/>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25">
            <a:extLst>
              <a:ext uri="{FF2B5EF4-FFF2-40B4-BE49-F238E27FC236}">
                <a16:creationId xmlns:a16="http://schemas.microsoft.com/office/drawing/2014/main" id="{23B93CAA-E64C-1F34-2FB5-527BF4D9FFE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00693" y="31613"/>
            <a:ext cx="880992" cy="866881"/>
          </a:xfrm>
          <a:prstGeom prst="rect">
            <a:avLst/>
          </a:prstGeom>
        </p:spPr>
      </p:pic>
      <p:cxnSp>
        <p:nvCxnSpPr>
          <p:cNvPr id="27" name="Straight Connector 26">
            <a:extLst>
              <a:ext uri="{FF2B5EF4-FFF2-40B4-BE49-F238E27FC236}">
                <a16:creationId xmlns:a16="http://schemas.microsoft.com/office/drawing/2014/main" id="{0B85CA2B-31F8-C242-30D5-BA00F67372AE}"/>
              </a:ext>
            </a:extLst>
          </p:cNvPr>
          <p:cNvCxnSpPr/>
          <p:nvPr/>
        </p:nvCxnSpPr>
        <p:spPr>
          <a:xfrm>
            <a:off x="10768068" y="235366"/>
            <a:ext cx="0" cy="572120"/>
          </a:xfrm>
          <a:prstGeom prst="line">
            <a:avLst/>
          </a:prstGeom>
          <a:ln w="19050">
            <a:solidFill>
              <a:srgbClr val="2D3E8E"/>
            </a:solidFill>
          </a:ln>
        </p:spPr>
        <p:style>
          <a:lnRef idx="1">
            <a:schemeClr val="accent5"/>
          </a:lnRef>
          <a:fillRef idx="0">
            <a:schemeClr val="accent5"/>
          </a:fillRef>
          <a:effectRef idx="0">
            <a:schemeClr val="accent5"/>
          </a:effectRef>
          <a:fontRef idx="minor">
            <a:schemeClr val="tx1"/>
          </a:fontRef>
        </p:style>
      </p:cxnSp>
      <p:sp>
        <p:nvSpPr>
          <p:cNvPr id="29" name="TextBox 28">
            <a:extLst>
              <a:ext uri="{FF2B5EF4-FFF2-40B4-BE49-F238E27FC236}">
                <a16:creationId xmlns:a16="http://schemas.microsoft.com/office/drawing/2014/main" id="{D73BE3B7-CEB5-F5AA-9D74-85AA18752220}"/>
              </a:ext>
            </a:extLst>
          </p:cNvPr>
          <p:cNvSpPr txBox="1"/>
          <p:nvPr/>
        </p:nvSpPr>
        <p:spPr>
          <a:xfrm>
            <a:off x="-8791" y="897529"/>
            <a:ext cx="12192000" cy="400110"/>
          </a:xfrm>
          <a:prstGeom prst="rect">
            <a:avLst/>
          </a:prstGeom>
          <a:solidFill>
            <a:schemeClr val="bg1"/>
          </a:solidFill>
        </p:spPr>
        <p:txBody>
          <a:bodyPr wrap="square">
            <a:spAutoFit/>
          </a:bodyPr>
          <a:lstStyle/>
          <a:p>
            <a:pPr algn="ctr"/>
            <a:r>
              <a:rPr lang="en-US" sz="2000" b="1" dirty="0">
                <a:solidFill>
                  <a:srgbClr val="003399"/>
                </a:solidFill>
                <a:latin typeface="Arial Black" panose="020B0A04020102020204" pitchFamily="34" charset="0"/>
              </a:rPr>
              <a:t>INVATI-2023</a:t>
            </a:r>
            <a:endParaRPr lang="en-US" sz="1600" b="1" dirty="0">
              <a:solidFill>
                <a:srgbClr val="003399"/>
              </a:solidFill>
              <a:latin typeface="Arial Black" panose="020B0A04020102020204" pitchFamily="34" charset="0"/>
            </a:endParaRPr>
          </a:p>
        </p:txBody>
      </p:sp>
      <p:sp>
        <p:nvSpPr>
          <p:cNvPr id="30" name="TextBox 29">
            <a:extLst>
              <a:ext uri="{FF2B5EF4-FFF2-40B4-BE49-F238E27FC236}">
                <a16:creationId xmlns:a16="http://schemas.microsoft.com/office/drawing/2014/main" id="{B4381F46-778E-B5AF-A5D6-4E3684C762B9}"/>
              </a:ext>
            </a:extLst>
          </p:cNvPr>
          <p:cNvSpPr txBox="1"/>
          <p:nvPr/>
        </p:nvSpPr>
        <p:spPr>
          <a:xfrm>
            <a:off x="0" y="1278074"/>
            <a:ext cx="12192000" cy="523220"/>
          </a:xfrm>
          <a:prstGeom prst="rect">
            <a:avLst/>
          </a:prstGeom>
          <a:solidFill>
            <a:schemeClr val="accent1"/>
          </a:solidFill>
        </p:spPr>
        <p:txBody>
          <a:bodyPr wrap="square">
            <a:spAutoFit/>
          </a:bodyPr>
          <a:lstStyle/>
          <a:p>
            <a:pPr algn="ctr"/>
            <a:r>
              <a:rPr lang="en-US" sz="2800" b="1" dirty="0">
                <a:latin typeface="Arial Black" panose="020B0A04020102020204" pitchFamily="34" charset="0"/>
              </a:rPr>
              <a:t> </a:t>
            </a:r>
            <a:r>
              <a:rPr lang="en-US" sz="2400" b="1" dirty="0">
                <a:latin typeface="Arial Black" panose="020B0A04020102020204" pitchFamily="34" charset="0"/>
              </a:rPr>
              <a:t>DETECTION OF MALARIA IN BLOOD CELLS USING CNN</a:t>
            </a:r>
            <a:endParaRPr lang="en-US" b="1" dirty="0">
              <a:latin typeface="Arial Black" panose="020B0A04020102020204" pitchFamily="34" charset="0"/>
            </a:endParaRPr>
          </a:p>
        </p:txBody>
      </p:sp>
      <p:sp>
        <p:nvSpPr>
          <p:cNvPr id="31" name="TextBox 30">
            <a:extLst>
              <a:ext uri="{FF2B5EF4-FFF2-40B4-BE49-F238E27FC236}">
                <a16:creationId xmlns:a16="http://schemas.microsoft.com/office/drawing/2014/main" id="{D27943E3-1242-7026-0EBD-478F3EEBD14D}"/>
              </a:ext>
            </a:extLst>
          </p:cNvPr>
          <p:cNvSpPr txBox="1"/>
          <p:nvPr/>
        </p:nvSpPr>
        <p:spPr>
          <a:xfrm>
            <a:off x="-15240" y="1801294"/>
            <a:ext cx="12192000" cy="938719"/>
          </a:xfrm>
          <a:prstGeom prst="rect">
            <a:avLst/>
          </a:prstGeom>
          <a:solidFill>
            <a:schemeClr val="bg1"/>
          </a:solidFill>
          <a:ln>
            <a:noFill/>
          </a:ln>
        </p:spPr>
        <p:txBody>
          <a:bodyPr wrap="square" rtlCol="0">
            <a:spAutoFit/>
          </a:bodyPr>
          <a:lstStyle/>
          <a:p>
            <a:pPr algn="ctr">
              <a:spcAft>
                <a:spcPts val="600"/>
              </a:spcAft>
            </a:pPr>
            <a:r>
              <a:rPr lang="en-US" sz="1400" b="1" dirty="0">
                <a:solidFill>
                  <a:schemeClr val="accent1"/>
                </a:solidFill>
              </a:rPr>
              <a:t>ABSTRACT</a:t>
            </a:r>
          </a:p>
          <a:p>
            <a:pPr algn="just"/>
            <a:r>
              <a:rPr lang="en-US" sz="1200" dirty="0"/>
              <a:t>Malarial infection in the blood cells is diagnosed by manually counting the number of parasites, RBCs and WBCs in the blood sample taken and our application is a system that enables users to take images of the blood sample and uses image segmentation and advanced deep learning techniques and diagnose malarial infection in the sample. The app is designed to serve in aid of the health professionals to help save time in finding and counting the parasites in the blood sample to give faster diagnosis.</a:t>
            </a:r>
          </a:p>
        </p:txBody>
      </p:sp>
      <p:sp>
        <p:nvSpPr>
          <p:cNvPr id="32" name="TextBox 31">
            <a:extLst>
              <a:ext uri="{FF2B5EF4-FFF2-40B4-BE49-F238E27FC236}">
                <a16:creationId xmlns:a16="http://schemas.microsoft.com/office/drawing/2014/main" id="{D3C6CCA8-BEB8-DC11-6EB6-5E932B486B04}"/>
              </a:ext>
            </a:extLst>
          </p:cNvPr>
          <p:cNvSpPr txBox="1"/>
          <p:nvPr/>
        </p:nvSpPr>
        <p:spPr>
          <a:xfrm>
            <a:off x="-35250" y="2740013"/>
            <a:ext cx="6102453" cy="861774"/>
          </a:xfrm>
          <a:prstGeom prst="rect">
            <a:avLst/>
          </a:prstGeom>
          <a:solidFill>
            <a:schemeClr val="bg1"/>
          </a:solidFill>
          <a:ln>
            <a:solidFill>
              <a:schemeClr val="tx1"/>
            </a:solidFill>
          </a:ln>
        </p:spPr>
        <p:txBody>
          <a:bodyPr wrap="square" numCol="1" rtlCol="0">
            <a:spAutoFit/>
          </a:bodyPr>
          <a:lstStyle/>
          <a:p>
            <a:pPr algn="ctr">
              <a:lnSpc>
                <a:spcPct val="150000"/>
              </a:lnSpc>
              <a:spcAft>
                <a:spcPts val="600"/>
              </a:spcAft>
            </a:pPr>
            <a:r>
              <a:rPr lang="en-US" sz="1400" b="1" dirty="0">
                <a:solidFill>
                  <a:schemeClr val="accent1"/>
                </a:solidFill>
              </a:rPr>
              <a:t>PROBLEM STATEMENT</a:t>
            </a:r>
          </a:p>
          <a:p>
            <a:pPr algn="just">
              <a:spcAft>
                <a:spcPts val="600"/>
              </a:spcAft>
            </a:pPr>
            <a:r>
              <a:rPr lang="en-US" sz="1200" dirty="0"/>
              <a:t>Implement a robust android and web application to take blood sample images and use advanced image segmentation and deep learning methods to diagnose malaria.</a:t>
            </a:r>
          </a:p>
        </p:txBody>
      </p:sp>
      <p:sp>
        <p:nvSpPr>
          <p:cNvPr id="35" name="TextBox 34">
            <a:extLst>
              <a:ext uri="{FF2B5EF4-FFF2-40B4-BE49-F238E27FC236}">
                <a16:creationId xmlns:a16="http://schemas.microsoft.com/office/drawing/2014/main" id="{7E0E6656-599E-3BE2-51C8-0F6658D9F2FC}"/>
              </a:ext>
            </a:extLst>
          </p:cNvPr>
          <p:cNvSpPr txBox="1"/>
          <p:nvPr/>
        </p:nvSpPr>
        <p:spPr>
          <a:xfrm>
            <a:off x="-35249" y="3639218"/>
            <a:ext cx="6102453" cy="1308050"/>
          </a:xfrm>
          <a:prstGeom prst="rect">
            <a:avLst/>
          </a:prstGeom>
          <a:solidFill>
            <a:schemeClr val="bg1"/>
          </a:solidFill>
          <a:ln>
            <a:solidFill>
              <a:srgbClr val="0D0D0D"/>
            </a:solidFill>
          </a:ln>
        </p:spPr>
        <p:txBody>
          <a:bodyPr wrap="square">
            <a:spAutoFit/>
          </a:bodyPr>
          <a:lstStyle/>
          <a:p>
            <a:pPr algn="ctr">
              <a:lnSpc>
                <a:spcPct val="150000"/>
              </a:lnSpc>
              <a:spcAft>
                <a:spcPts val="600"/>
              </a:spcAft>
            </a:pPr>
            <a:r>
              <a:rPr lang="en-US" sz="1400" b="1" dirty="0">
                <a:solidFill>
                  <a:schemeClr val="accent1"/>
                </a:solidFill>
              </a:rPr>
              <a:t>OBJECTIVE</a:t>
            </a:r>
            <a:endParaRPr lang="en-US" sz="1200" b="1" dirty="0">
              <a:solidFill>
                <a:schemeClr val="accent1"/>
              </a:solidFill>
            </a:endParaRPr>
          </a:p>
          <a:p>
            <a:pPr marL="285750" indent="-285750" algn="just">
              <a:spcAft>
                <a:spcPts val="600"/>
              </a:spcAft>
              <a:buFont typeface="Arial" panose="020B0604020202020204" pitchFamily="34" charset="0"/>
              <a:buChar char="•"/>
            </a:pPr>
            <a:r>
              <a:rPr lang="en-US" sz="1200" dirty="0"/>
              <a:t>To help medical professionals expedite diagnosis by automatically counting the parasites in the blood sample.</a:t>
            </a:r>
          </a:p>
          <a:p>
            <a:pPr marL="285750" indent="-285750" algn="just">
              <a:spcAft>
                <a:spcPts val="600"/>
              </a:spcAft>
              <a:buFont typeface="Arial" panose="020B0604020202020204" pitchFamily="34" charset="0"/>
              <a:buChar char="•"/>
            </a:pPr>
            <a:r>
              <a:rPr lang="en-US" sz="1200" dirty="0"/>
              <a:t>Reduce the computational complexity of the model to ensure that the application can be used with devices of lowest specifications and can be used offline.</a:t>
            </a:r>
          </a:p>
        </p:txBody>
      </p:sp>
      <p:sp>
        <p:nvSpPr>
          <p:cNvPr id="37" name="TextBox 36">
            <a:extLst>
              <a:ext uri="{FF2B5EF4-FFF2-40B4-BE49-F238E27FC236}">
                <a16:creationId xmlns:a16="http://schemas.microsoft.com/office/drawing/2014/main" id="{C6B521AA-B41F-FA60-8AAE-64B6D9C20621}"/>
              </a:ext>
            </a:extLst>
          </p:cNvPr>
          <p:cNvSpPr txBox="1"/>
          <p:nvPr/>
        </p:nvSpPr>
        <p:spPr>
          <a:xfrm>
            <a:off x="-23737" y="4982766"/>
            <a:ext cx="6090940" cy="1097280"/>
          </a:xfrm>
          <a:prstGeom prst="rect">
            <a:avLst/>
          </a:prstGeom>
          <a:noFill/>
          <a:ln>
            <a:solidFill>
              <a:schemeClr val="tx1"/>
            </a:solidFill>
          </a:ln>
        </p:spPr>
        <p:txBody>
          <a:bodyPr wrap="square" numCol="2">
            <a:spAutoFit/>
          </a:bodyPr>
          <a:lstStyle/>
          <a:p>
            <a:pPr algn="ctr">
              <a:spcAft>
                <a:spcPts val="600"/>
              </a:spcAft>
            </a:pPr>
            <a:endParaRPr lang="en-US" sz="1200" b="1" dirty="0"/>
          </a:p>
          <a:p>
            <a:pPr marL="171450" indent="-171450" algn="just">
              <a:spcAft>
                <a:spcPts val="600"/>
              </a:spcAft>
              <a:buFont typeface="Arial" panose="020B0604020202020204" pitchFamily="34" charset="0"/>
              <a:buChar char="•"/>
            </a:pPr>
            <a:r>
              <a:rPr lang="en-US" sz="1200" dirty="0"/>
              <a:t>Intuitive Android Application</a:t>
            </a:r>
          </a:p>
          <a:p>
            <a:pPr marL="171450" indent="-171450" algn="just">
              <a:spcAft>
                <a:spcPts val="600"/>
              </a:spcAft>
              <a:buFont typeface="Arial" panose="020B0604020202020204" pitchFamily="34" charset="0"/>
              <a:buChar char="•"/>
            </a:pPr>
            <a:r>
              <a:rPr lang="en-US" sz="1200" dirty="0"/>
              <a:t>Fast malaria detection module</a:t>
            </a:r>
          </a:p>
          <a:p>
            <a:pPr marL="171450" indent="-171450" algn="just">
              <a:spcAft>
                <a:spcPts val="600"/>
              </a:spcAft>
              <a:buFont typeface="Arial" panose="020B0604020202020204" pitchFamily="34" charset="0"/>
              <a:buChar char="•"/>
            </a:pPr>
            <a:endParaRPr lang="en-US" sz="1200" dirty="0"/>
          </a:p>
          <a:p>
            <a:pPr marL="171450" indent="-171450" algn="just">
              <a:spcAft>
                <a:spcPts val="600"/>
              </a:spcAft>
              <a:buFont typeface="Arial" panose="020B0604020202020204" pitchFamily="34" charset="0"/>
              <a:buChar char="•"/>
            </a:pPr>
            <a:endParaRPr lang="en-US" sz="1200" dirty="0"/>
          </a:p>
          <a:p>
            <a:pPr marL="171450" indent="-171450" algn="just">
              <a:spcAft>
                <a:spcPts val="600"/>
              </a:spcAft>
              <a:buFont typeface="Arial" panose="020B0604020202020204" pitchFamily="34" charset="0"/>
              <a:buChar char="•"/>
            </a:pPr>
            <a:r>
              <a:rPr lang="en-US" sz="1200" dirty="0"/>
              <a:t>Improved Diagnosis Capability</a:t>
            </a:r>
          </a:p>
          <a:p>
            <a:pPr marL="171450" indent="-171450" algn="just">
              <a:spcAft>
                <a:spcPts val="600"/>
              </a:spcAft>
              <a:buFont typeface="Arial" panose="020B0604020202020204" pitchFamily="34" charset="0"/>
              <a:buChar char="•"/>
            </a:pPr>
            <a:r>
              <a:rPr lang="en-US" sz="1200" dirty="0"/>
              <a:t>Database for further data collection and analysis for research purposes.</a:t>
            </a:r>
          </a:p>
          <a:p>
            <a:pPr marL="171450" indent="-171450" algn="just">
              <a:spcAft>
                <a:spcPts val="600"/>
              </a:spcAft>
              <a:buFont typeface="Arial" panose="020B0604020202020204" pitchFamily="34" charset="0"/>
              <a:buChar char="•"/>
            </a:pPr>
            <a:endParaRPr lang="en-US" sz="1200" dirty="0"/>
          </a:p>
        </p:txBody>
      </p:sp>
      <p:sp>
        <p:nvSpPr>
          <p:cNvPr id="39" name="TextBox 38">
            <a:extLst>
              <a:ext uri="{FF2B5EF4-FFF2-40B4-BE49-F238E27FC236}">
                <a16:creationId xmlns:a16="http://schemas.microsoft.com/office/drawing/2014/main" id="{CD55FEAC-1B5D-F3A8-1EBA-CD8774AC70BF}"/>
              </a:ext>
            </a:extLst>
          </p:cNvPr>
          <p:cNvSpPr txBox="1"/>
          <p:nvPr/>
        </p:nvSpPr>
        <p:spPr>
          <a:xfrm>
            <a:off x="6096000" y="2743766"/>
            <a:ext cx="6062472" cy="2167128"/>
          </a:xfrm>
          <a:custGeom>
            <a:avLst/>
            <a:gdLst>
              <a:gd name="connsiteX0" fmla="*/ 0 w 6112335"/>
              <a:gd name="connsiteY0" fmla="*/ 0 h 2194560"/>
              <a:gd name="connsiteX1" fmla="*/ 6112335 w 6112335"/>
              <a:gd name="connsiteY1" fmla="*/ 0 h 2194560"/>
              <a:gd name="connsiteX2" fmla="*/ 6112335 w 6112335"/>
              <a:gd name="connsiteY2" fmla="*/ 2194560 h 2194560"/>
              <a:gd name="connsiteX3" fmla="*/ 0 w 6112335"/>
              <a:gd name="connsiteY3" fmla="*/ 2194560 h 2194560"/>
              <a:gd name="connsiteX4" fmla="*/ 0 w 6112335"/>
              <a:gd name="connsiteY4" fmla="*/ 0 h 2194560"/>
              <a:gd name="connsiteX0" fmla="*/ 0 w 6112335"/>
              <a:gd name="connsiteY0" fmla="*/ 0 h 2250544"/>
              <a:gd name="connsiteX1" fmla="*/ 6112335 w 6112335"/>
              <a:gd name="connsiteY1" fmla="*/ 0 h 2250544"/>
              <a:gd name="connsiteX2" fmla="*/ 6112335 w 6112335"/>
              <a:gd name="connsiteY2" fmla="*/ 2194560 h 2250544"/>
              <a:gd name="connsiteX3" fmla="*/ 0 w 6112335"/>
              <a:gd name="connsiteY3" fmla="*/ 2250544 h 2250544"/>
              <a:gd name="connsiteX4" fmla="*/ 0 w 6112335"/>
              <a:gd name="connsiteY4" fmla="*/ 0 h 2250544"/>
              <a:gd name="connsiteX0" fmla="*/ 0 w 6112335"/>
              <a:gd name="connsiteY0" fmla="*/ 0 h 2250544"/>
              <a:gd name="connsiteX1" fmla="*/ 6112335 w 6112335"/>
              <a:gd name="connsiteY1" fmla="*/ 0 h 2250544"/>
              <a:gd name="connsiteX2" fmla="*/ 6112335 w 6112335"/>
              <a:gd name="connsiteY2" fmla="*/ 2213221 h 2250544"/>
              <a:gd name="connsiteX3" fmla="*/ 0 w 6112335"/>
              <a:gd name="connsiteY3" fmla="*/ 2250544 h 2250544"/>
              <a:gd name="connsiteX4" fmla="*/ 0 w 6112335"/>
              <a:gd name="connsiteY4" fmla="*/ 0 h 2250544"/>
              <a:gd name="connsiteX0" fmla="*/ 0 w 6149658"/>
              <a:gd name="connsiteY0" fmla="*/ 0 h 2261065"/>
              <a:gd name="connsiteX1" fmla="*/ 6112335 w 6149658"/>
              <a:gd name="connsiteY1" fmla="*/ 0 h 2261065"/>
              <a:gd name="connsiteX2" fmla="*/ 6149658 w 6149658"/>
              <a:gd name="connsiteY2" fmla="*/ 2261065 h 2261065"/>
              <a:gd name="connsiteX3" fmla="*/ 0 w 6149658"/>
              <a:gd name="connsiteY3" fmla="*/ 2250544 h 2261065"/>
              <a:gd name="connsiteX4" fmla="*/ 0 w 6149658"/>
              <a:gd name="connsiteY4" fmla="*/ 0 h 2261065"/>
              <a:gd name="connsiteX0" fmla="*/ 0 w 6149658"/>
              <a:gd name="connsiteY0" fmla="*/ 0 h 2279250"/>
              <a:gd name="connsiteX1" fmla="*/ 6112335 w 6149658"/>
              <a:gd name="connsiteY1" fmla="*/ 0 h 2279250"/>
              <a:gd name="connsiteX2" fmla="*/ 6149658 w 6149658"/>
              <a:gd name="connsiteY2" fmla="*/ 2261065 h 2279250"/>
              <a:gd name="connsiteX3" fmla="*/ 0 w 6149658"/>
              <a:gd name="connsiteY3" fmla="*/ 2279250 h 2279250"/>
              <a:gd name="connsiteX4" fmla="*/ 0 w 6149658"/>
              <a:gd name="connsiteY4" fmla="*/ 0 h 2279250"/>
              <a:gd name="connsiteX0" fmla="*/ 0 w 6149658"/>
              <a:gd name="connsiteY0" fmla="*/ 0 h 2289771"/>
              <a:gd name="connsiteX1" fmla="*/ 6112335 w 6149658"/>
              <a:gd name="connsiteY1" fmla="*/ 0 h 2289771"/>
              <a:gd name="connsiteX2" fmla="*/ 6149658 w 6149658"/>
              <a:gd name="connsiteY2" fmla="*/ 2289771 h 2289771"/>
              <a:gd name="connsiteX3" fmla="*/ 0 w 6149658"/>
              <a:gd name="connsiteY3" fmla="*/ 2279250 h 2289771"/>
              <a:gd name="connsiteX4" fmla="*/ 0 w 6149658"/>
              <a:gd name="connsiteY4" fmla="*/ 0 h 2289771"/>
              <a:gd name="connsiteX0" fmla="*/ 0 w 6149658"/>
              <a:gd name="connsiteY0" fmla="*/ 0 h 2298388"/>
              <a:gd name="connsiteX1" fmla="*/ 6112335 w 6149658"/>
              <a:gd name="connsiteY1" fmla="*/ 0 h 2298388"/>
              <a:gd name="connsiteX2" fmla="*/ 6149658 w 6149658"/>
              <a:gd name="connsiteY2" fmla="*/ 2289771 h 2298388"/>
              <a:gd name="connsiteX3" fmla="*/ 0 w 6149658"/>
              <a:gd name="connsiteY3" fmla="*/ 2298388 h 2298388"/>
              <a:gd name="connsiteX4" fmla="*/ 0 w 6149658"/>
              <a:gd name="connsiteY4" fmla="*/ 0 h 2298388"/>
              <a:gd name="connsiteX0" fmla="*/ 0 w 6130997"/>
              <a:gd name="connsiteY0" fmla="*/ 0 h 2328046"/>
              <a:gd name="connsiteX1" fmla="*/ 6112335 w 6130997"/>
              <a:gd name="connsiteY1" fmla="*/ 0 h 2328046"/>
              <a:gd name="connsiteX2" fmla="*/ 6130997 w 6130997"/>
              <a:gd name="connsiteY2" fmla="*/ 2328046 h 2328046"/>
              <a:gd name="connsiteX3" fmla="*/ 0 w 6130997"/>
              <a:gd name="connsiteY3" fmla="*/ 2298388 h 2328046"/>
              <a:gd name="connsiteX4" fmla="*/ 0 w 6130997"/>
              <a:gd name="connsiteY4" fmla="*/ 0 h 2328046"/>
              <a:gd name="connsiteX0" fmla="*/ 9330 w 6140327"/>
              <a:gd name="connsiteY0" fmla="*/ 0 h 2328046"/>
              <a:gd name="connsiteX1" fmla="*/ 6121665 w 6140327"/>
              <a:gd name="connsiteY1" fmla="*/ 0 h 2328046"/>
              <a:gd name="connsiteX2" fmla="*/ 6140327 w 6140327"/>
              <a:gd name="connsiteY2" fmla="*/ 2328046 h 2328046"/>
              <a:gd name="connsiteX3" fmla="*/ 0 w 6140327"/>
              <a:gd name="connsiteY3" fmla="*/ 2307956 h 2328046"/>
              <a:gd name="connsiteX4" fmla="*/ 9330 w 6140327"/>
              <a:gd name="connsiteY4" fmla="*/ 0 h 2328046"/>
              <a:gd name="connsiteX0" fmla="*/ 9330 w 6130996"/>
              <a:gd name="connsiteY0" fmla="*/ 0 h 2318477"/>
              <a:gd name="connsiteX1" fmla="*/ 6121665 w 6130996"/>
              <a:gd name="connsiteY1" fmla="*/ 0 h 2318477"/>
              <a:gd name="connsiteX2" fmla="*/ 6130996 w 6130996"/>
              <a:gd name="connsiteY2" fmla="*/ 2318477 h 2318477"/>
              <a:gd name="connsiteX3" fmla="*/ 0 w 6130996"/>
              <a:gd name="connsiteY3" fmla="*/ 2307956 h 2318477"/>
              <a:gd name="connsiteX4" fmla="*/ 9330 w 6130996"/>
              <a:gd name="connsiteY4" fmla="*/ 0 h 2318477"/>
              <a:gd name="connsiteX0" fmla="*/ 9330 w 6130996"/>
              <a:gd name="connsiteY0" fmla="*/ 0 h 2318477"/>
              <a:gd name="connsiteX1" fmla="*/ 6121665 w 6130996"/>
              <a:gd name="connsiteY1" fmla="*/ 0 h 2318477"/>
              <a:gd name="connsiteX2" fmla="*/ 6130996 w 6130996"/>
              <a:gd name="connsiteY2" fmla="*/ 2318477 h 2318477"/>
              <a:gd name="connsiteX3" fmla="*/ 0 w 6130996"/>
              <a:gd name="connsiteY3" fmla="*/ 2317525 h 2318477"/>
              <a:gd name="connsiteX4" fmla="*/ 9330 w 6130996"/>
              <a:gd name="connsiteY4" fmla="*/ 0 h 2318477"/>
              <a:gd name="connsiteX0" fmla="*/ 9330 w 6130996"/>
              <a:gd name="connsiteY0" fmla="*/ 0 h 2318477"/>
              <a:gd name="connsiteX1" fmla="*/ 6121665 w 6130996"/>
              <a:gd name="connsiteY1" fmla="*/ 0 h 2318477"/>
              <a:gd name="connsiteX2" fmla="*/ 6130996 w 6130996"/>
              <a:gd name="connsiteY2" fmla="*/ 2318477 h 2318477"/>
              <a:gd name="connsiteX3" fmla="*/ 0 w 6130996"/>
              <a:gd name="connsiteY3" fmla="*/ 2312316 h 2318477"/>
              <a:gd name="connsiteX4" fmla="*/ 9330 w 6130996"/>
              <a:gd name="connsiteY4" fmla="*/ 0 h 23184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30996" h="2318477">
                <a:moveTo>
                  <a:pt x="9330" y="0"/>
                </a:moveTo>
                <a:lnTo>
                  <a:pt x="6121665" y="0"/>
                </a:lnTo>
                <a:cubicBezTo>
                  <a:pt x="6124775" y="772826"/>
                  <a:pt x="6127886" y="1545651"/>
                  <a:pt x="6130996" y="2318477"/>
                </a:cubicBezTo>
                <a:lnTo>
                  <a:pt x="0" y="2312316"/>
                </a:lnTo>
                <a:lnTo>
                  <a:pt x="9330" y="0"/>
                </a:lnTo>
                <a:close/>
              </a:path>
            </a:pathLst>
          </a:custGeom>
          <a:solidFill>
            <a:schemeClr val="bg1"/>
          </a:solidFill>
          <a:ln w="12700" cmpd="dbl">
            <a:solidFill>
              <a:schemeClr val="tx1"/>
            </a:solidFill>
          </a:ln>
        </p:spPr>
        <p:txBody>
          <a:bodyPr wrap="square" rtlCol="0">
            <a:spAutoFit/>
          </a:bodyPr>
          <a:lstStyle/>
          <a:p>
            <a:pPr algn="ctr">
              <a:lnSpc>
                <a:spcPct val="150000"/>
              </a:lnSpc>
              <a:spcAft>
                <a:spcPts val="600"/>
              </a:spcAft>
            </a:pPr>
            <a:r>
              <a:rPr lang="en-US" sz="1400" b="1" dirty="0">
                <a:solidFill>
                  <a:schemeClr val="accent1"/>
                </a:solidFill>
              </a:rPr>
              <a:t>PROPOSED SYSTEM</a:t>
            </a:r>
            <a:endParaRPr lang="en-US" sz="1200" b="1" dirty="0">
              <a:solidFill>
                <a:schemeClr val="accent1"/>
              </a:solidFill>
            </a:endParaRPr>
          </a:p>
          <a:p>
            <a:pPr algn="ctr">
              <a:lnSpc>
                <a:spcPct val="150000"/>
              </a:lnSpc>
              <a:spcAft>
                <a:spcPts val="600"/>
              </a:spcAft>
            </a:pPr>
            <a:endParaRPr lang="en-US" b="1" dirty="0"/>
          </a:p>
          <a:p>
            <a:pPr algn="ctr">
              <a:lnSpc>
                <a:spcPct val="150000"/>
              </a:lnSpc>
              <a:spcAft>
                <a:spcPts val="600"/>
              </a:spcAft>
            </a:pPr>
            <a:endParaRPr lang="en-US" b="1" dirty="0"/>
          </a:p>
        </p:txBody>
      </p:sp>
      <p:sp>
        <p:nvSpPr>
          <p:cNvPr id="46" name="TextBox 45">
            <a:extLst>
              <a:ext uri="{FF2B5EF4-FFF2-40B4-BE49-F238E27FC236}">
                <a16:creationId xmlns:a16="http://schemas.microsoft.com/office/drawing/2014/main" id="{FDC7CED8-F5F6-509C-E611-CFD4A556E7D6}"/>
              </a:ext>
            </a:extLst>
          </p:cNvPr>
          <p:cNvSpPr txBox="1"/>
          <p:nvPr/>
        </p:nvSpPr>
        <p:spPr>
          <a:xfrm>
            <a:off x="2272544" y="5000128"/>
            <a:ext cx="1940768" cy="307777"/>
          </a:xfrm>
          <a:prstGeom prst="rect">
            <a:avLst/>
          </a:prstGeom>
          <a:noFill/>
        </p:spPr>
        <p:txBody>
          <a:bodyPr wrap="square">
            <a:spAutoFit/>
          </a:bodyPr>
          <a:lstStyle/>
          <a:p>
            <a:r>
              <a:rPr lang="en-US" sz="1400" b="1" dirty="0">
                <a:solidFill>
                  <a:schemeClr val="accent1"/>
                </a:solidFill>
              </a:rPr>
              <a:t>CONTRIBUTION</a:t>
            </a:r>
            <a:endParaRPr lang="en-US" dirty="0">
              <a:solidFill>
                <a:schemeClr val="accent1"/>
              </a:solidFill>
            </a:endParaRPr>
          </a:p>
        </p:txBody>
      </p:sp>
      <p:sp>
        <p:nvSpPr>
          <p:cNvPr id="48" name="TextBox 47">
            <a:extLst>
              <a:ext uri="{FF2B5EF4-FFF2-40B4-BE49-F238E27FC236}">
                <a16:creationId xmlns:a16="http://schemas.microsoft.com/office/drawing/2014/main" id="{0942AC60-4713-500A-12B8-812DCD0A0500}"/>
              </a:ext>
            </a:extLst>
          </p:cNvPr>
          <p:cNvSpPr txBox="1"/>
          <p:nvPr/>
        </p:nvSpPr>
        <p:spPr>
          <a:xfrm>
            <a:off x="-35250" y="6109468"/>
            <a:ext cx="6099048" cy="822960"/>
          </a:xfrm>
          <a:prstGeom prst="rect">
            <a:avLst/>
          </a:prstGeom>
          <a:noFill/>
          <a:ln>
            <a:solidFill>
              <a:schemeClr val="tx1"/>
            </a:solidFill>
          </a:ln>
        </p:spPr>
        <p:txBody>
          <a:bodyPr wrap="square">
            <a:spAutoFit/>
          </a:bodyPr>
          <a:lstStyle/>
          <a:p>
            <a:pPr algn="ctr"/>
            <a:r>
              <a:rPr lang="en-US" sz="1400" b="1" dirty="0">
                <a:solidFill>
                  <a:schemeClr val="accent1"/>
                </a:solidFill>
              </a:rPr>
              <a:t>RESULTS</a:t>
            </a:r>
            <a:endParaRPr lang="en-US" sz="1400" b="1" dirty="0"/>
          </a:p>
          <a:p>
            <a:pPr marL="171450" indent="-171450">
              <a:buFont typeface="Arial" panose="020B0604020202020204" pitchFamily="34" charset="0"/>
              <a:buChar char="•"/>
            </a:pPr>
            <a:r>
              <a:rPr lang="en-US" sz="1200" dirty="0"/>
              <a:t>Model Accuracy- 96%</a:t>
            </a:r>
          </a:p>
          <a:p>
            <a:pPr marL="171450" indent="-171450">
              <a:buFont typeface="Arial" panose="020B0604020202020204" pitchFamily="34" charset="0"/>
              <a:buChar char="•"/>
            </a:pPr>
            <a:r>
              <a:rPr lang="en-US" sz="1200" dirty="0"/>
              <a:t>Diagnosis Time - Around a minute. Considerably faster than manual diagnosis which takes around 30 mins to manually count the parasites in the sample.</a:t>
            </a:r>
          </a:p>
        </p:txBody>
      </p:sp>
      <p:sp>
        <p:nvSpPr>
          <p:cNvPr id="52" name="TextBox 51">
            <a:extLst>
              <a:ext uri="{FF2B5EF4-FFF2-40B4-BE49-F238E27FC236}">
                <a16:creationId xmlns:a16="http://schemas.microsoft.com/office/drawing/2014/main" id="{A2E40099-A4E4-7577-6E18-ED779C6984CD}"/>
              </a:ext>
            </a:extLst>
          </p:cNvPr>
          <p:cNvSpPr txBox="1"/>
          <p:nvPr/>
        </p:nvSpPr>
        <p:spPr>
          <a:xfrm>
            <a:off x="6098340" y="4941047"/>
            <a:ext cx="3902308" cy="2011680"/>
          </a:xfrm>
          <a:prstGeom prst="rect">
            <a:avLst/>
          </a:prstGeom>
          <a:noFill/>
          <a:ln>
            <a:solidFill>
              <a:schemeClr val="tx1"/>
            </a:solidFill>
          </a:ln>
        </p:spPr>
        <p:txBody>
          <a:bodyPr wrap="square" numCol="1">
            <a:spAutoFit/>
          </a:bodyPr>
          <a:lstStyle/>
          <a:p>
            <a:pPr algn="ctr">
              <a:spcAft>
                <a:spcPts val="600"/>
              </a:spcAft>
            </a:pPr>
            <a:r>
              <a:rPr lang="en-US" sz="1400" b="1" dirty="0">
                <a:solidFill>
                  <a:schemeClr val="accent1"/>
                </a:solidFill>
              </a:rPr>
              <a:t>CONCLUSION AND FUTURE WORK</a:t>
            </a:r>
          </a:p>
          <a:p>
            <a:pPr algn="just">
              <a:spcAft>
                <a:spcPts val="600"/>
              </a:spcAft>
            </a:pPr>
            <a:r>
              <a:rPr lang="en-US" sz="1200" dirty="0">
                <a:ea typeface="Calibri" panose="020F0502020204030204" pitchFamily="34" charset="0"/>
              </a:rPr>
              <a:t>Our project helps to considerably shave time required to manually count the parasites in the blood sample to aid the healthcare professionals give accurate and fast diagnosis. In the future we hope to extend the applications capability to detect other vector-based diseases similar to malaria like dengue, yellow fever etc.</a:t>
            </a:r>
            <a:endParaRPr lang="en-US" sz="1200" b="1" dirty="0"/>
          </a:p>
          <a:p>
            <a:pPr>
              <a:spcAft>
                <a:spcPts val="600"/>
              </a:spcAft>
            </a:pPr>
            <a:endParaRPr lang="en-US" sz="1200" b="1" dirty="0"/>
          </a:p>
        </p:txBody>
      </p:sp>
      <p:sp>
        <p:nvSpPr>
          <p:cNvPr id="53" name="TextBox 52">
            <a:extLst>
              <a:ext uri="{FF2B5EF4-FFF2-40B4-BE49-F238E27FC236}">
                <a16:creationId xmlns:a16="http://schemas.microsoft.com/office/drawing/2014/main" id="{8BF531E6-6A85-597F-00C0-8D61A5879AD2}"/>
              </a:ext>
            </a:extLst>
          </p:cNvPr>
          <p:cNvSpPr txBox="1"/>
          <p:nvPr/>
        </p:nvSpPr>
        <p:spPr>
          <a:xfrm>
            <a:off x="10031784" y="4937194"/>
            <a:ext cx="2130552" cy="2011680"/>
          </a:xfrm>
          <a:prstGeom prst="rect">
            <a:avLst/>
          </a:prstGeom>
          <a:noFill/>
          <a:ln w="0">
            <a:solidFill>
              <a:schemeClr val="tx1"/>
            </a:solidFill>
          </a:ln>
        </p:spPr>
        <p:txBody>
          <a:bodyPr wrap="square" numCol="1">
            <a:spAutoFit/>
          </a:bodyPr>
          <a:lstStyle/>
          <a:p>
            <a:pPr algn="ctr">
              <a:spcAft>
                <a:spcPts val="600"/>
              </a:spcAft>
            </a:pPr>
            <a:r>
              <a:rPr lang="en-US" sz="1400" b="1" dirty="0">
                <a:solidFill>
                  <a:schemeClr val="accent1"/>
                </a:solidFill>
              </a:rPr>
              <a:t>APPLICATIONS</a:t>
            </a:r>
          </a:p>
          <a:p>
            <a:pPr marL="171450" indent="-171450">
              <a:spcAft>
                <a:spcPts val="600"/>
              </a:spcAft>
              <a:buFont typeface="Arial" panose="020B0604020202020204" pitchFamily="34" charset="0"/>
              <a:buChar char="•"/>
            </a:pPr>
            <a:r>
              <a:rPr lang="en-US" sz="1200" dirty="0"/>
              <a:t>Self Diagnosis</a:t>
            </a:r>
          </a:p>
          <a:p>
            <a:pPr marL="171450" indent="-171450">
              <a:spcAft>
                <a:spcPts val="600"/>
              </a:spcAft>
              <a:buFont typeface="Arial" panose="020B0604020202020204" pitchFamily="34" charset="0"/>
              <a:buChar char="•"/>
            </a:pPr>
            <a:r>
              <a:rPr lang="en-US" sz="1200" dirty="0"/>
              <a:t>Fast Detection of Parasites</a:t>
            </a:r>
          </a:p>
          <a:p>
            <a:pPr marL="171450" indent="-171450">
              <a:spcAft>
                <a:spcPts val="600"/>
              </a:spcAft>
              <a:buFont typeface="Arial" panose="020B0604020202020204" pitchFamily="34" charset="0"/>
              <a:buChar char="•"/>
            </a:pPr>
            <a:r>
              <a:rPr lang="en-US" sz="1200" dirty="0"/>
              <a:t>Cost Effective Diagnosis</a:t>
            </a:r>
          </a:p>
        </p:txBody>
      </p:sp>
      <p:sp>
        <p:nvSpPr>
          <p:cNvPr id="2" name="TextBox 1">
            <a:extLst>
              <a:ext uri="{FF2B5EF4-FFF2-40B4-BE49-F238E27FC236}">
                <a16:creationId xmlns:a16="http://schemas.microsoft.com/office/drawing/2014/main" id="{CB2DC2C9-9A7A-04E2-A3A5-BD923EC08D00}"/>
              </a:ext>
            </a:extLst>
          </p:cNvPr>
          <p:cNvSpPr txBox="1"/>
          <p:nvPr/>
        </p:nvSpPr>
        <p:spPr>
          <a:xfrm>
            <a:off x="1484" y="6961851"/>
            <a:ext cx="6090939" cy="822960"/>
          </a:xfrm>
          <a:prstGeom prst="rect">
            <a:avLst/>
          </a:prstGeom>
          <a:solidFill>
            <a:schemeClr val="bg1"/>
          </a:solidFill>
          <a:ln>
            <a:solidFill>
              <a:schemeClr val="tx1"/>
            </a:solidFill>
          </a:ln>
        </p:spPr>
        <p:txBody>
          <a:bodyPr wrap="square" numCol="2" rtlCol="0">
            <a:spAutoFit/>
          </a:bodyPr>
          <a:lstStyle/>
          <a:p>
            <a:r>
              <a:rPr lang="en-US" sz="1400" b="1" dirty="0"/>
              <a:t>                  </a:t>
            </a:r>
            <a:br>
              <a:rPr lang="en-US" sz="1200" dirty="0"/>
            </a:br>
            <a:endParaRPr lang="en-US" sz="1200" dirty="0"/>
          </a:p>
          <a:p>
            <a:r>
              <a:rPr lang="en-US" sz="1200" dirty="0"/>
              <a:t>Anurag Nepal 1NT19CS036</a:t>
            </a:r>
          </a:p>
          <a:p>
            <a:r>
              <a:rPr lang="en-US" sz="1200" dirty="0"/>
              <a:t> Baibhav Dhakal 1NT19CS048</a:t>
            </a:r>
          </a:p>
          <a:p>
            <a:endParaRPr lang="en-US" sz="1200" dirty="0"/>
          </a:p>
          <a:p>
            <a:endParaRPr lang="en-US" sz="1200" dirty="0"/>
          </a:p>
          <a:p>
            <a:r>
              <a:rPr lang="en-US" sz="1200" dirty="0"/>
              <a:t>Avishek  Rijal 1NT19CS045</a:t>
            </a:r>
          </a:p>
          <a:p>
            <a:r>
              <a:rPr lang="en-US" sz="1200" dirty="0"/>
              <a:t>Sabin Kandel 1NT19CS165</a:t>
            </a:r>
          </a:p>
        </p:txBody>
      </p:sp>
      <p:sp>
        <p:nvSpPr>
          <p:cNvPr id="5" name="TextBox 4">
            <a:extLst>
              <a:ext uri="{FF2B5EF4-FFF2-40B4-BE49-F238E27FC236}">
                <a16:creationId xmlns:a16="http://schemas.microsoft.com/office/drawing/2014/main" id="{889C6E29-F800-A1DF-9A24-64B46FD51783}"/>
              </a:ext>
            </a:extLst>
          </p:cNvPr>
          <p:cNvSpPr txBox="1"/>
          <p:nvPr/>
        </p:nvSpPr>
        <p:spPr>
          <a:xfrm>
            <a:off x="2272544" y="6980038"/>
            <a:ext cx="1669536" cy="307777"/>
          </a:xfrm>
          <a:prstGeom prst="rect">
            <a:avLst/>
          </a:prstGeom>
          <a:noFill/>
        </p:spPr>
        <p:txBody>
          <a:bodyPr wrap="square">
            <a:spAutoFit/>
          </a:bodyPr>
          <a:lstStyle/>
          <a:p>
            <a:r>
              <a:rPr lang="en-US" sz="1400" b="1" dirty="0">
                <a:solidFill>
                  <a:schemeClr val="accent1"/>
                </a:solidFill>
              </a:rPr>
              <a:t>TEAM MEMBERS </a:t>
            </a:r>
            <a:endParaRPr lang="en-US" sz="1400" dirty="0">
              <a:solidFill>
                <a:schemeClr val="accent1"/>
              </a:solidFill>
            </a:endParaRPr>
          </a:p>
        </p:txBody>
      </p:sp>
      <p:sp>
        <p:nvSpPr>
          <p:cNvPr id="6" name="TextBox 5">
            <a:extLst>
              <a:ext uri="{FF2B5EF4-FFF2-40B4-BE49-F238E27FC236}">
                <a16:creationId xmlns:a16="http://schemas.microsoft.com/office/drawing/2014/main" id="{1259ED1E-8846-6673-E7BB-C30217CE8B44}"/>
              </a:ext>
            </a:extLst>
          </p:cNvPr>
          <p:cNvSpPr txBox="1"/>
          <p:nvPr/>
        </p:nvSpPr>
        <p:spPr>
          <a:xfrm>
            <a:off x="6126480" y="6976872"/>
            <a:ext cx="6035040" cy="819302"/>
          </a:xfrm>
          <a:prstGeom prst="rect">
            <a:avLst/>
          </a:prstGeom>
          <a:solidFill>
            <a:schemeClr val="bg1"/>
          </a:solidFill>
          <a:ln>
            <a:solidFill>
              <a:schemeClr val="tx1"/>
            </a:solidFill>
          </a:ln>
        </p:spPr>
        <p:txBody>
          <a:bodyPr wrap="square" numCol="1" rtlCol="0" anchor="ctr">
            <a:spAutoFit/>
          </a:bodyPr>
          <a:lstStyle/>
          <a:p>
            <a:r>
              <a:rPr lang="en-US" sz="1400" b="1" dirty="0"/>
              <a:t>                  </a:t>
            </a:r>
            <a:endParaRPr lang="en-US" sz="1200" b="1" dirty="0"/>
          </a:p>
          <a:p>
            <a:pPr algn="ctr"/>
            <a:endParaRPr lang="en-US" sz="1200" dirty="0"/>
          </a:p>
          <a:p>
            <a:pPr algn="ctr">
              <a:lnSpc>
                <a:spcPts val="100"/>
              </a:lnSpc>
            </a:pPr>
            <a:r>
              <a:rPr lang="en-US" sz="1200" dirty="0"/>
              <a:t>Dr. Nalini N.</a:t>
            </a:r>
          </a:p>
          <a:p>
            <a:pPr algn="ctr"/>
            <a:r>
              <a:rPr lang="en-US" sz="1200" dirty="0"/>
              <a:t>Professor(CSE) &amp; Dean- Students’ Welfare, NMIT</a:t>
            </a:r>
          </a:p>
          <a:p>
            <a:pPr algn="ctr"/>
            <a:r>
              <a:rPr lang="en-US" sz="1200" dirty="0"/>
              <a:t>Bangalore</a:t>
            </a:r>
          </a:p>
        </p:txBody>
      </p:sp>
      <p:sp>
        <p:nvSpPr>
          <p:cNvPr id="7" name="TextBox 6">
            <a:extLst>
              <a:ext uri="{FF2B5EF4-FFF2-40B4-BE49-F238E27FC236}">
                <a16:creationId xmlns:a16="http://schemas.microsoft.com/office/drawing/2014/main" id="{DBB682A0-4ACF-BFFE-0753-DBCFAEAA340C}"/>
              </a:ext>
            </a:extLst>
          </p:cNvPr>
          <p:cNvSpPr txBox="1"/>
          <p:nvPr/>
        </p:nvSpPr>
        <p:spPr>
          <a:xfrm>
            <a:off x="8421955" y="6941820"/>
            <a:ext cx="1669536" cy="307777"/>
          </a:xfrm>
          <a:prstGeom prst="rect">
            <a:avLst/>
          </a:prstGeom>
          <a:noFill/>
        </p:spPr>
        <p:txBody>
          <a:bodyPr wrap="square">
            <a:spAutoFit/>
          </a:bodyPr>
          <a:lstStyle/>
          <a:p>
            <a:pPr algn="ctr"/>
            <a:r>
              <a:rPr lang="en-US" sz="1400" b="1" dirty="0">
                <a:solidFill>
                  <a:schemeClr val="accent1"/>
                </a:solidFill>
              </a:rPr>
              <a:t>GUIDE</a:t>
            </a:r>
            <a:endParaRPr lang="en-US" sz="1400" dirty="0">
              <a:solidFill>
                <a:schemeClr val="accent1"/>
              </a:solidFill>
            </a:endParaRPr>
          </a:p>
        </p:txBody>
      </p:sp>
      <p:pic>
        <p:nvPicPr>
          <p:cNvPr id="9" name="Picture 8">
            <a:extLst>
              <a:ext uri="{FF2B5EF4-FFF2-40B4-BE49-F238E27FC236}">
                <a16:creationId xmlns:a16="http://schemas.microsoft.com/office/drawing/2014/main" id="{E371BFA2-1631-6171-36BB-B1EB8B5021DB}"/>
              </a:ext>
            </a:extLst>
          </p:cNvPr>
          <p:cNvPicPr>
            <a:picLocks noChangeAspect="1"/>
          </p:cNvPicPr>
          <p:nvPr/>
        </p:nvPicPr>
        <p:blipFill rotWithShape="1">
          <a:blip r:embed="rId4">
            <a:extLst>
              <a:ext uri="{28A0092B-C50C-407E-A947-70E740481C1C}">
                <a14:useLocalDpi xmlns:a14="http://schemas.microsoft.com/office/drawing/2010/main" val="0"/>
              </a:ext>
            </a:extLst>
          </a:blip>
          <a:srcRect t="19719"/>
          <a:stretch/>
        </p:blipFill>
        <p:spPr>
          <a:xfrm>
            <a:off x="6251701" y="3004815"/>
            <a:ext cx="5747011" cy="1758621"/>
          </a:xfrm>
          <a:prstGeom prst="rect">
            <a:avLst/>
          </a:prstGeom>
        </p:spPr>
      </p:pic>
    </p:spTree>
    <p:extLst>
      <p:ext uri="{BB962C8B-B14F-4D97-AF65-F5344CB8AC3E}">
        <p14:creationId xmlns:p14="http://schemas.microsoft.com/office/powerpoint/2010/main" val="412529610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763</TotalTime>
  <Words>327</Words>
  <Application>Microsoft Office PowerPoint</Application>
  <PresentationFormat>Custom</PresentationFormat>
  <Paragraphs>41</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Arial Black</vt:lpstr>
      <vt:lpstr>Calibri</vt:lpstr>
      <vt:lpstr>1_Office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Archana</dc:creator>
  <cp:lastModifiedBy>Avay kushwaha</cp:lastModifiedBy>
  <cp:revision>65</cp:revision>
  <dcterms:created xsi:type="dcterms:W3CDTF">2021-05-15T04:35:09Z</dcterms:created>
  <dcterms:modified xsi:type="dcterms:W3CDTF">2023-05-25T17:32:47Z</dcterms:modified>
</cp:coreProperties>
</file>